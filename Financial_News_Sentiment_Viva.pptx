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529"/>
  </p:normalViewPr>
  <p:slideViewPr>
    <p:cSldViewPr snapToGrid="0">
      <p:cViewPr varScale="1">
        <p:scale>
          <a:sx n="82" d="100"/>
          <a:sy n="82" d="100"/>
        </p:scale>
        <p:origin x="1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Development macro F1</c:v>
          </c:tx>
          <c:spPr>
            <a:ln w="28575">
              <a:solidFill>
                <a:srgbClr val="087F8C"/>
              </a:solidFill>
            </a:ln>
          </c:spPr>
          <c:marker>
            <c:symbol val="circle"/>
            <c:size val="8"/>
            <c:spPr>
              <a:solidFill>
                <a:srgbClr val="087F8C"/>
              </a:solidFill>
            </c:spPr>
          </c:marker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1">
                    <a:solidFill>
                      <a:srgbClr val="11243A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Epoch 1</c:v>
              </c:pt>
              <c:pt idx="1">
                <c:v>Epoch 2</c:v>
              </c:pt>
              <c:pt idx="2">
                <c:v>Epoch 3</c:v>
              </c:pt>
            </c:strLit>
          </c:cat>
          <c:val>
            <c:numLit>
              <c:formatCode>0.00</c:formatCode>
              <c:ptCount val="3"/>
              <c:pt idx="0">
                <c:v>0.79464618600629666</c:v>
              </c:pt>
              <c:pt idx="1">
                <c:v>0.83476728811411016</c:v>
              </c:pt>
              <c:pt idx="2">
                <c:v>0.83063788921269166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A890-A343-B7AB-2F2818C118B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75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86"/>
          <c:min val="0.75"/>
        </c:scaling>
        <c:delete val="0"/>
        <c:axPos val="l"/>
        <c:majorGridlines>
          <c:spPr>
            <a:ln w="9525">
              <a:solidFill>
                <a:srgbClr val="D5DDE5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>
              <a:srgbClr val="087F8C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53657A"/>
              </a:solidFill>
            </c:spPr>
            <c:extLst>
              <c:ext xmlns:c16="http://schemas.microsoft.com/office/drawing/2014/chart" uri="{C3380CC4-5D6E-409C-BE32-E72D297353CC}">
                <c16:uniqueId val="{00000001-63C8-A446-87BE-26975F8D127C}"/>
              </c:ext>
            </c:extLst>
          </c:dPt>
          <c:dPt>
            <c:idx val="1"/>
            <c:invertIfNegative val="0"/>
            <c:bubble3D val="0"/>
            <c:spPr>
              <a:solidFill>
                <a:srgbClr val="315D9B"/>
              </a:solidFill>
            </c:spPr>
            <c:extLst>
              <c:ext xmlns:c16="http://schemas.microsoft.com/office/drawing/2014/chart" uri="{C3380CC4-5D6E-409C-BE32-E72D297353CC}">
                <c16:uniqueId val="{00000003-63C8-A446-87BE-26975F8D127C}"/>
              </c:ext>
            </c:extLst>
          </c:dPt>
          <c:dPt>
            <c:idx val="2"/>
            <c:invertIfNegative val="0"/>
            <c:bubble3D val="0"/>
            <c:spPr>
              <a:solidFill>
                <a:srgbClr val="315D9B"/>
              </a:solidFill>
            </c:spPr>
            <c:extLst>
              <c:ext xmlns:c16="http://schemas.microsoft.com/office/drawing/2014/chart" uri="{C3380CC4-5D6E-409C-BE32-E72D297353CC}">
                <c16:uniqueId val="{00000005-63C8-A446-87BE-26975F8D127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3C8-A446-87BE-26975F8D127C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 b="1">
                    <a:solidFill>
                      <a:srgbClr val="11243A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Majority</c:v>
              </c:pt>
              <c:pt idx="1">
                <c:v>Simple RNN</c:v>
              </c:pt>
              <c:pt idx="2">
                <c:v>LSTM</c:v>
              </c:pt>
              <c:pt idx="3">
                <c:v>BERT</c:v>
              </c:pt>
            </c:strLit>
          </c:cat>
          <c:val>
            <c:numLit>
              <c:formatCode>0.0</c:formatCode>
              <c:ptCount val="4"/>
              <c:pt idx="0">
                <c:v>0.26403641881638845</c:v>
              </c:pt>
              <c:pt idx="1">
                <c:v>0.67310512709550896</c:v>
              </c:pt>
              <c:pt idx="2">
                <c:v>0.68209039302326924</c:v>
              </c:pt>
              <c:pt idx="3">
                <c:v>0.82959564125027108</c:v>
              </c:pt>
            </c:numLit>
          </c:val>
          <c:extLst>
            <c:ext xmlns:c16="http://schemas.microsoft.com/office/drawing/2014/chart" uri="{C3380CC4-5D6E-409C-BE32-E72D297353CC}">
              <c16:uniqueId val="{00000008-63C8-A446-87BE-26975F8D127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5DDE5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5DDE5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Model probability</c:v>
          </c:tx>
          <c:spPr>
            <a:solidFill>
              <a:srgbClr val="087F8C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B34848"/>
              </a:solidFill>
            </c:spPr>
            <c:extLst>
              <c:ext xmlns:c16="http://schemas.microsoft.com/office/drawing/2014/chart" uri="{C3380CC4-5D6E-409C-BE32-E72D297353CC}">
                <c16:uniqueId val="{00000001-3882-C642-8337-A1F55E575D70}"/>
              </c:ext>
            </c:extLst>
          </c:dPt>
          <c:dPt>
            <c:idx val="1"/>
            <c:invertIfNegative val="0"/>
            <c:bubble3D val="0"/>
            <c:spPr>
              <a:solidFill>
                <a:srgbClr val="258168"/>
              </a:solidFill>
            </c:spPr>
            <c:extLst>
              <c:ext xmlns:c16="http://schemas.microsoft.com/office/drawing/2014/chart" uri="{C3380CC4-5D6E-409C-BE32-E72D297353CC}">
                <c16:uniqueId val="{00000003-3882-C642-8337-A1F55E575D70}"/>
              </c:ext>
            </c:extLst>
          </c:dPt>
          <c:dPt>
            <c:idx val="2"/>
            <c:invertIfNegative val="0"/>
            <c:bubble3D val="0"/>
            <c:spPr>
              <a:solidFill>
                <a:srgbClr val="53657A"/>
              </a:solidFill>
            </c:spPr>
            <c:extLst>
              <c:ext xmlns:c16="http://schemas.microsoft.com/office/drawing/2014/chart" uri="{C3380CC4-5D6E-409C-BE32-E72D297353CC}">
                <c16:uniqueId val="{00000005-3882-C642-8337-A1F55E575D70}"/>
              </c:ext>
            </c:extLst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 b="1">
                    <a:solidFill>
                      <a:srgbClr val="11243A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Bearish</c:v>
              </c:pt>
              <c:pt idx="1">
                <c:v>Bullish</c:v>
              </c:pt>
              <c:pt idx="2">
                <c:v>Neutral</c:v>
              </c:pt>
            </c:strLit>
          </c:cat>
          <c:val>
            <c:numLit>
              <c:formatCode>0%</c:formatCode>
              <c:ptCount val="3"/>
              <c:pt idx="0">
                <c:v>0.26014599999999999</c:v>
              </c:pt>
              <c:pt idx="1">
                <c:v>0.62350700000000003</c:v>
              </c:pt>
              <c:pt idx="2">
                <c:v>0.11634700000000001</c:v>
              </c:pt>
            </c:numLit>
          </c:val>
          <c:extLst>
            <c:ext xmlns:c16="http://schemas.microsoft.com/office/drawing/2014/chart" uri="{C3380CC4-5D6E-409C-BE32-E72D297353CC}">
              <c16:uniqueId val="{00000006-3882-C642-8337-A1F55E575D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5DDE5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D5DDE5"/>
              </a:solidFill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Training minutes</c:v>
          </c:tx>
          <c:spPr>
            <a:solidFill>
              <a:srgbClr val="087F8C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315D9B"/>
              </a:solidFill>
            </c:spPr>
            <c:extLst>
              <c:ext xmlns:c16="http://schemas.microsoft.com/office/drawing/2014/chart" uri="{C3380CC4-5D6E-409C-BE32-E72D297353CC}">
                <c16:uniqueId val="{00000001-ED3F-C046-8E80-51495B7F1947}"/>
              </c:ext>
            </c:extLst>
          </c:dPt>
          <c:dPt>
            <c:idx val="1"/>
            <c:invertIfNegative val="0"/>
            <c:bubble3D val="0"/>
            <c:spPr>
              <a:solidFill>
                <a:srgbClr val="315D9B"/>
              </a:solidFill>
            </c:spPr>
            <c:extLst>
              <c:ext xmlns:c16="http://schemas.microsoft.com/office/drawing/2014/chart" uri="{C3380CC4-5D6E-409C-BE32-E72D297353CC}">
                <c16:uniqueId val="{00000003-ED3F-C046-8E80-51495B7F194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D3F-C046-8E80-51495B7F194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 b="1">
                    <a:solidFill>
                      <a:srgbClr val="11243A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Simple RNN</c:v>
              </c:pt>
              <c:pt idx="1">
                <c:v>LSTM</c:v>
              </c:pt>
              <c:pt idx="2">
                <c:v>BERT</c:v>
              </c:pt>
            </c:strLit>
          </c:cat>
          <c:val>
            <c:numLit>
              <c:formatCode>0</c:formatCode>
              <c:ptCount val="3"/>
              <c:pt idx="0">
                <c:v>1.9111055437499695</c:v>
              </c:pt>
              <c:pt idx="1">
                <c:v>0.98821748194992931</c:v>
              </c:pt>
              <c:pt idx="2">
                <c:v>41.579857071516741</c:v>
              </c:pt>
            </c:numLit>
          </c:val>
          <c:extLst>
            <c:ext xmlns:c16="http://schemas.microsoft.com/office/drawing/2014/chart" uri="{C3380CC4-5D6E-409C-BE32-E72D297353CC}">
              <c16:uniqueId val="{00000006-ED3F-C046-8E80-51495B7F19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5DDE5"/>
            </a:solidFill>
          </a:ln>
        </c:spPr>
        <c:txPr>
          <a:bodyPr anchorCtr="1"/>
          <a:lstStyle/>
          <a:p>
            <a:pPr>
              <a:defRPr sz="180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w="9525">
              <a:solidFill>
                <a:srgbClr val="D5DDE5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My project reads financial text and estimates its sentiment.</a:t>
            </a:r>
          </a:p>
          <a:p>
            <a:r>
              <a:t>I compare two recurrent models with a fine-tuned BERT model.</a:t>
            </a:r>
          </a:p>
          <a:p>
            <a:r>
              <a:t>The saved BERT run reached 86.35 percent validation accuracy.</a:t>
            </a:r>
          </a:p>
          <a:p>
            <a:r>
              <a:t>I will explain the design, evidence, and remaining deployment work.</a:t>
            </a:r>
          </a:p>
          <a:p>
            <a:r>
              <a:t>The first challenge is that one sentence can carry mixed signals.</a:t>
            </a:r>
          </a:p>
          <a:p>
            <a:r>
              <a:t>Source: notebook, manifest.json, reports/model_comparison.csv.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Imagine an analyst reading this headline among many others.</a:t>
            </a:r>
          </a:p>
          <a:p>
            <a:r>
              <a:rPr dirty="0"/>
              <a:t>Stronger earnings sound positive, while weaker demand sounds negative.</a:t>
            </a:r>
          </a:p>
          <a:p>
            <a:r>
              <a:rPr dirty="0"/>
              <a:t>A keyword rule can react to one phrase and miss the whole sentence.</a:t>
            </a:r>
          </a:p>
          <a:p>
            <a:r>
              <a:rPr dirty="0"/>
              <a:t>I ask the model to estimate the overall sentiment of the text.</a:t>
            </a:r>
          </a:p>
          <a:p>
            <a:r>
              <a:rPr dirty="0"/>
              <a:t>We will return to this exact example when I show the recorded output.</a:t>
            </a:r>
          </a:p>
          <a:p>
            <a:r>
              <a:rPr dirty="0"/>
              <a:t>Source: notebook Step 18, saved demonstration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research team can use sentiment to decide which texts to review first.</a:t>
            </a:r>
          </a:p>
          <a:p>
            <a:r>
              <a:t>Manual reading handles context, but every new message needs attention.</a:t>
            </a:r>
          </a:p>
          <a:p>
            <a:r>
              <a:t>Keyword rules are simple, yet mixed language can make them brittle.</a:t>
            </a:r>
          </a:p>
          <a:p>
            <a:r>
              <a:t>I built a learned classifier and measured it against saved labels.</a:t>
            </a:r>
          </a:p>
          <a:p>
            <a:r>
              <a:t>The contribution is a careful comparison and reusable inference workflow.</a:t>
            </a:r>
          </a:p>
          <a:p>
            <a:r>
              <a:t>Source: project brief, notebook objectives, app.py. Reference comparison is conceptual.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user supplies a tweet, headline, or short paragraph.</a:t>
            </a:r>
          </a:p>
          <a:p>
            <a:r>
              <a:t>Shared cleaning removes links and mentions while retaining financial meaning.</a:t>
            </a:r>
          </a:p>
          <a:p>
            <a:r>
              <a:t>The saved tokenizer converts the text into the model’s numeric input.</a:t>
            </a:r>
          </a:p>
          <a:p>
            <a:r>
              <a:t>The classifier estimates each class and selects the largest probability.</a:t>
            </a:r>
          </a:p>
          <a:p>
            <a:r>
              <a:t>Now I will show which technologies implement each part.</a:t>
            </a:r>
          </a:p>
          <a:p>
            <a:r>
              <a:t>Source: sentiment_core.py, SentimentPredictor.predict, and app.py.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Jupyter keeps the experiment steps and their observed outputs together.</a:t>
            </a:r>
          </a:p>
          <a:p>
            <a:r>
              <a:t>Hugging Face supplies the dataset, pretrained BERT, and its matching tokenizer.</a:t>
            </a:r>
          </a:p>
          <a:p>
            <a:r>
              <a:t>PyTorch performs the model calculations and updates the trainable weights.</a:t>
            </a:r>
          </a:p>
          <a:p>
            <a:r>
              <a:t>Pandas and scikit-learn support data checks, splits, and evaluation.</a:t>
            </a:r>
          </a:p>
          <a:p>
            <a:r>
              <a:t>Streamlit presents the saved model without putting training inside the app.</a:t>
            </a:r>
          </a:p>
          <a:p>
            <a:r>
              <a:t>Source: notebook imports and setup, sentiment_core.py, app.py.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loaded 9,543 training rows and 2,388 official validation rows.</a:t>
            </a:r>
          </a:p>
          <a:p>
            <a:r>
              <a:t>The audit removed empty cleaned text, conflicts, duplicates, and overlap.</a:t>
            </a:r>
          </a:p>
          <a:p>
            <a:r>
              <a:t>Those checks left 9,396 eligible training rows.</a:t>
            </a:r>
          </a:p>
          <a:p>
            <a:r>
              <a:t>I kept the official validation rows, including eleven existing duplicates.</a:t>
            </a:r>
          </a:p>
          <a:p>
            <a:r>
              <a:t>The next design decision separates fitting, selection, and final evaluation.</a:t>
            </a:r>
          </a:p>
          <a:p>
            <a:r>
              <a:t>Source: data_audit.json and notebook Step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split the eligible training data by class into fitting and development.</a:t>
            </a:r>
          </a:p>
          <a:p>
            <a:r>
              <a:t>Only fitting data creates vocabulary, class weights, and learned parameters.</a:t>
            </a:r>
          </a:p>
          <a:p>
            <a:r>
              <a:t>Development macro F1 chooses checkpoints and the deployment model.</a:t>
            </a:r>
          </a:p>
          <a:p>
            <a:r>
              <a:t>Only then do I score the frozen candidates on official validation.</a:t>
            </a:r>
          </a:p>
          <a:p>
            <a:r>
              <a:t>This gives a fair comparison, although an independent future test is still needed.</a:t>
            </a:r>
          </a:p>
          <a:p>
            <a:r>
              <a:t>Source: split_membership.csv, notebook Steps 6, 9, 12, 15–16.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cleaning example, not an additional labelled prediction.</a:t>
            </a:r>
          </a:p>
          <a:p>
            <a:r>
              <a:t>I remove the URL and user mention, and normalize spaces.</a:t>
            </a:r>
          </a:p>
          <a:p>
            <a:r>
              <a:t>The ticker, negation, and percentage remain available to the models.</a:t>
            </a:r>
          </a:p>
          <a:p>
            <a:r>
              <a:t>The RNN uses a fitting-only vocabulary, while BERT uses its own tokenizer.</a:t>
            </a:r>
          </a:p>
          <a:p>
            <a:r>
              <a:t>Both paths share the same light cleaning before their different tokenizers.</a:t>
            </a:r>
          </a:p>
          <a:p>
            <a:r>
              <a:t>Source: notebook Steps 7 and 9, sentiment_core.py.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recurrent models learn embeddings and their classifier from scratch.</a:t>
            </a:r>
          </a:p>
          <a:p>
            <a:r>
              <a:t>Simple RNN reads words in sequence. LSTM adds gates that can retain useful history.</a:t>
            </a:r>
          </a:p>
          <a:p>
            <a:r>
              <a:t>BERT starts with pretrained language representations and uses full-sentence context.</a:t>
            </a:r>
          </a:p>
          <a:p>
            <a:r>
              <a:t>Each model ends with three scores and the same sentiment label convention.</a:t>
            </a:r>
          </a:p>
          <a:p>
            <a:r>
              <a:t>Their complexity differs, so I compare both validation quality and compute cost.</a:t>
            </a:r>
          </a:p>
          <a:p>
            <a:r>
              <a:t>Source: RecurrentClassifier, notebook Steps 10–15, BERT config.json.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trained BERT for three epochs using a learning rate of 0.00002.</a:t>
            </a:r>
          </a:p>
          <a:p>
            <a:r>
              <a:t>Its development macro F1 peaked at the second epoch.</a:t>
            </a:r>
          </a:p>
          <a:p>
            <a:r>
              <a:t>The saved model restores that checkpoint instead of blindly keeping the last one.</a:t>
            </a:r>
          </a:p>
          <a:p>
            <a:r>
              <a:t>Weighted loss addresses imbalance, and gradient clipping limits unstable updates.</a:t>
            </a:r>
          </a:p>
          <a:p>
            <a:r>
              <a:t>The shared training loop also tests two learning rates for each recurrent model.</a:t>
            </a:r>
          </a:p>
          <a:p>
            <a:r>
              <a:t>Source: reports/BERT_history.csv, config.json, training_records.json.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notebook trains models and exports a selected run folder.</a:t>
            </a:r>
          </a:p>
          <a:p>
            <a:r>
              <a:t>The manifest identifies the model, label order, and length limits.</a:t>
            </a:r>
          </a:p>
          <a:p>
            <a:r>
              <a:t>The app loads that run through SentimentPredictor and caches the model.</a:t>
            </a:r>
          </a:p>
          <a:p>
            <a:r>
              <a:t>Prediction reuses the exported cleaning and tokenizer instead of retraining.</a:t>
            </a:r>
          </a:p>
          <a:p>
            <a:r>
              <a:t>The app reads saved report CSVs separately to show measured comparisons.</a:t>
            </a:r>
          </a:p>
          <a:p>
            <a:r>
              <a:t>Source: app.py, manifest.json, sentiment_core.py, notebook Steps 18–19.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three frozen candidates used the same 2,388 official validation examples.</a:t>
            </a:r>
          </a:p>
          <a:p>
            <a:r>
              <a:t>BERT’s macro F1 is 0.1475 higher than the best recurrent model, LSTM.</a:t>
            </a:r>
          </a:p>
          <a:p>
            <a:r>
              <a:t>The majority-only rule scores 65.58 percent accuracy but just 0.2640 macro F1.</a:t>
            </a:r>
          </a:p>
          <a:p>
            <a:r>
              <a:t>That gap shows why accuracy alone can hide poor minority-class performance.</a:t>
            </a:r>
          </a:p>
          <a:p>
            <a:r>
              <a:t>These results support this dataset comparison, not a claim about every future headline.</a:t>
            </a:r>
          </a:p>
          <a:p>
            <a:r>
              <a:t>Source: model_comparison.csv, manifest.json, saved prediction arrays.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confusion matrix shows how the 326 mistakes distribute across labels.</a:t>
            </a:r>
          </a:p>
          <a:p>
            <a:r>
              <a:t>Rows show the dataset label and columns show the predicted label.</a:t>
            </a:r>
          </a:p>
          <a:p>
            <a:r>
              <a:t>The model recovers 85 percent of bearish texts, but bearish precision is lower.</a:t>
            </a:r>
          </a:p>
          <a:p>
            <a:r>
              <a:t>Neutral texts account for 197 mistakes because some read as strongly directional.</a:t>
            </a:r>
          </a:p>
          <a:p>
            <a:r>
              <a:t>We need both class metrics and examples to understand these errors.</a:t>
            </a:r>
          </a:p>
          <a:p>
            <a:r>
              <a:t>Source: BERT_classification_report.csv and BERT_validation_predictions.npz.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same mixed sentence from the beginning of the presentation.</a:t>
            </a:r>
          </a:p>
          <a:p>
            <a:r>
              <a:t>The saved notebook output gives Bullish the highest probability, 62.35 percent.</a:t>
            </a:r>
          </a:p>
          <a:p>
            <a:r>
              <a:t>Bearish still receives 26.01 percent, so the output reflects some uncertainty.</a:t>
            </a:r>
          </a:p>
          <a:p>
            <a:r>
              <a:t>There is no supplied ground-truth label for this demonstration sentence.</a:t>
            </a:r>
          </a:p>
          <a:p>
            <a:r>
              <a:t>I can explain the prediction, but this single example does not prove correctness.</a:t>
            </a:r>
          </a:p>
          <a:p>
            <a:r>
              <a:t>Source: notebook Step 18 stored input and probability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text comes from the saved BERT error report, not an invented example.</a:t>
            </a:r>
          </a:p>
          <a:p>
            <a:r>
              <a:t>The dataset calls it Bearish, but BERT predicts Bullish with 98.97 percent probability.</a:t>
            </a:r>
          </a:p>
          <a:p>
            <a:r>
              <a:t>The words record high may look positive without identifying the affected market actor.</a:t>
            </a:r>
          </a:p>
          <a:p>
            <a:r>
              <a:t>That is a possible explanation, not a proven cause of this specific error.</a:t>
            </a:r>
          </a:p>
          <a:p>
            <a:r>
              <a:t>A human label review and probability calibration are useful next investigations.</a:t>
            </a:r>
          </a:p>
          <a:p>
            <a:r>
              <a:t>Source: reports/selected_model_errors.csv, source_row 1592.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recalculated the reported metrics from the stored prediction arrays and they match.</a:t>
            </a:r>
          </a:p>
          <a:p>
            <a:r>
              <a:t>The saved notebook reports matching reload predictions and rejected empty inputs.</a:t>
            </a:r>
          </a:p>
          <a:p>
            <a:r>
              <a:t>The Streamlit interface exists in source, but no genuine app screenshot is supplied.</a:t>
            </a:r>
          </a:p>
          <a:p>
            <a:r>
              <a:t>The last executed export cell failed because Streamlit package metadata was missing.</a:t>
            </a:r>
          </a:p>
          <a:p>
            <a:r>
              <a:t>I would repair that environment and rerun packaging before a live application demo.</a:t>
            </a:r>
          </a:p>
          <a:p>
            <a:r>
              <a:t>Source: prediction arrays, notebook Step 18 output and final PackageNotFoundError.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chosen LSTM trial trained in about one minute, while BERT took 41.58 minutes.</a:t>
            </a:r>
          </a:p>
          <a:p>
            <a:r>
              <a:t>The notebook records these timings on Apple MPS for this particular run.</a:t>
            </a:r>
          </a:p>
          <a:p>
            <a:r>
              <a:t>BERT’s batched evaluation averaged 10.95 milliseconds per tweet.</a:t>
            </a:r>
          </a:p>
          <a:p>
            <a:r>
              <a:t>That measurement excludes tokenization and is not a user-facing response-time test.</a:t>
            </a:r>
          </a:p>
          <a:p>
            <a:r>
              <a:t>I would measure real app latency before deciding whether a smaller model is needed.</a:t>
            </a:r>
          </a:p>
          <a:p>
            <a:r>
              <a:t>Source: model_comparison.csv, training_records.json, notebook device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labels describe English financial tweets rather than every language or document type.</a:t>
            </a:r>
          </a:p>
          <a:p>
            <a:r>
              <a:t>The random development split and official validation do not test future events independently.</a:t>
            </a:r>
          </a:p>
          <a:p>
            <a:r>
              <a:t>Text fingerprints remove some duplication, but shared events can still cross the split.</a:t>
            </a:r>
          </a:p>
          <a:p>
            <a:r>
              <a:t>Long input is truncated and model probabilities have not been calibrated.</a:t>
            </a:r>
          </a:p>
          <a:p>
            <a:r>
              <a:t>The local app has no recorded concurrency test or public-service protection layer.</a:t>
            </a:r>
          </a:p>
          <a:p>
            <a:r>
              <a:t>Source: dataset scope, split code, SentimentPredictor, app.py, saved run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First I would pin a complete environment and rerun exports in a clean installation.</a:t>
            </a:r>
          </a:p>
          <a:p>
            <a:r>
              <a:t>That is low effort, and success means the app and archive work without manual repairs.</a:t>
            </a:r>
          </a:p>
          <a:p>
            <a:r>
              <a:t>Next I would collect dated labels and test on unseen events, a medium-to-high effort task.</a:t>
            </a:r>
          </a:p>
          <a:p>
            <a:r>
              <a:t>I would also fit calibration on development data and measure errors versus review coverage.</a:t>
            </a:r>
          </a:p>
          <a:p>
            <a:r>
              <a:t>These are proposals with explicit tests, not features already present in this version.</a:t>
            </a:r>
          </a:p>
          <a:p>
            <a:r>
              <a:t>Source: recorded packaging failure and evaluation gaps. All changes are proposed.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 built an auditable comparison from raw financial tweets to saved-model inference.</a:t>
            </a:r>
          </a:p>
          <a:p>
            <a:r>
              <a:t>BERT achieved 86.35 percent accuracy and 0.8296 macro F1 on official validation.</a:t>
            </a:r>
          </a:p>
          <a:p>
            <a:r>
              <a:t>It improved macro F1 over LSTM, while 326 mistakes still require careful interpretation.</a:t>
            </a:r>
          </a:p>
          <a:p>
            <a:r>
              <a:t>My next milestone is a clean, repeatable app launch followed by stronger independent testing.</a:t>
            </a:r>
          </a:p>
          <a:p>
            <a:r>
              <a:t>The main lesson is to evaluate the whole workflow, not only the largest accuracy number.</a:t>
            </a:r>
          </a:p>
          <a:p>
            <a:r>
              <a:t>Source: saved full-run comparison, error report, notebook and application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AD496D8-500A-4E22-B63D-4E521CC1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C026446-A981-4D05-8211-23EE8A378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7F51075-B7E0-40E4-95B3-44280066F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828D7F-E15C-4CB0-BA62-9FB1761EA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7F9A3EB-0EB5-40E4-AEF9-D7A037575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3D6312E-CE0A-4B0E-8172-59FB92F1D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B71C512-564E-4235-A7DF-0FA4A14C0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3FBD357-9E9E-47C3-9B1F-1E55394C3FC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CEC738B-696D-49B6-A267-8FC761A4C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0C0736-2DF1-4A9D-BD15-57E372360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27C6C4-5147-44B7-81D2-9343A4097795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286625" y="5343525"/>
            <a:ext cx="123825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A23A89-37AD-4D74-B4A6-A12A22ED626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343275" y="5343525"/>
            <a:ext cx="132397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sp>
        <p:nvSpPr>
          <p:cNvPr id="10" name="text-0">
            <a:extLst>
              <a:ext uri="{FF2B5EF4-FFF2-40B4-BE49-F238E27FC236}">
                <a16:creationId xmlns:a16="http://schemas.microsoft.com/office/drawing/2014/main" id="{7EF2FC97-E6BB-4F78-8457-259E0DECCF34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rPr>
              <a:t>01 / 20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97C78907-B15C-4712-AB42-4F5DC9E0BD72}"/>
              </a:ext>
            </a:extLst>
          </p:cNvPr>
          <p:cNvSpPr>
            <a:spLocks noGrp="1"/>
          </p:cNvSpPr>
          <p:nvPr/>
        </p:nvSpPr>
        <p:spPr>
          <a:xfrm>
            <a:off x="685800" y="1000125"/>
            <a:ext cx="106680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Financial News</a:t>
            </a:r>
          </a:p>
          <a:p>
            <a:pPr algn="l"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Sentiment Prediction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1A043050-3CE3-483A-99AE-CBCA354BA269}"/>
              </a:ext>
            </a:extLst>
          </p:cNvPr>
          <p:cNvSpPr>
            <a:spLocks noGrp="1"/>
          </p:cNvSpPr>
          <p:nvPr/>
        </p:nvSpPr>
        <p:spPr>
          <a:xfrm>
            <a:off x="723900" y="3038475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700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rPr>
              <a:t>Deep Learning &amp; BERT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E233A6ED-DA1A-458E-9CA1-9DAEB9DDD160}"/>
              </a:ext>
            </a:extLst>
          </p:cNvPr>
          <p:cNvSpPr>
            <a:spLocks noGrp="1"/>
          </p:cNvSpPr>
          <p:nvPr/>
        </p:nvSpPr>
        <p:spPr>
          <a:xfrm>
            <a:off x="723900" y="3724275"/>
            <a:ext cx="10382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rPr>
              <a:t>Reading market mood from financial text</a:t>
            </a:r>
          </a:p>
        </p:txBody>
      </p:sp>
      <p:sp>
        <p:nvSpPr>
          <p:cNvPr id="5" name="Financial text">
            <a:extLst>
              <a:ext uri="{FF2B5EF4-FFF2-40B4-BE49-F238E27FC236}">
                <a16:creationId xmlns:a16="http://schemas.microsoft.com/office/drawing/2014/main" id="{B43B8F1D-47B6-417E-84DC-4F2CD66FEAE9}"/>
              </a:ext>
            </a:extLst>
          </p:cNvPr>
          <p:cNvSpPr>
            <a:spLocks noGrp="1"/>
          </p:cNvSpPr>
          <p:nvPr/>
        </p:nvSpPr>
        <p:spPr>
          <a:xfrm>
            <a:off x="723900" y="4953000"/>
            <a:ext cx="2619375" cy="781050"/>
          </a:xfrm>
          <a:prstGeom prst="rect">
            <a:avLst/>
          </a:prstGeom>
          <a:solidFill>
            <a:srgbClr val="203B5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Financial text</a:t>
            </a:r>
          </a:p>
        </p:txBody>
      </p:sp>
      <p:sp>
        <p:nvSpPr>
          <p:cNvPr id="6" name="Sentiment model">
            <a:extLst>
              <a:ext uri="{FF2B5EF4-FFF2-40B4-BE49-F238E27FC236}">
                <a16:creationId xmlns:a16="http://schemas.microsoft.com/office/drawing/2014/main" id="{C7881BDD-2E50-4668-B02E-C2ACA388425F}"/>
              </a:ext>
            </a:extLst>
          </p:cNvPr>
          <p:cNvSpPr>
            <a:spLocks noGrp="1"/>
          </p:cNvSpPr>
          <p:nvPr/>
        </p:nvSpPr>
        <p:spPr>
          <a:xfrm>
            <a:off x="4667250" y="4953000"/>
            <a:ext cx="2619375" cy="781050"/>
          </a:xfrm>
          <a:prstGeom prst="rect">
            <a:avLst/>
          </a:prstGeom>
          <a:solidFill>
            <a:srgbClr val="203B5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Sentiment model</a:t>
            </a:r>
          </a:p>
        </p:txBody>
      </p:sp>
      <p:sp>
        <p:nvSpPr>
          <p:cNvPr id="7" name="Bearish / Bullish / Neutral">
            <a:extLst>
              <a:ext uri="{FF2B5EF4-FFF2-40B4-BE49-F238E27FC236}">
                <a16:creationId xmlns:a16="http://schemas.microsoft.com/office/drawing/2014/main" id="{A49969E6-D5F2-44B8-A1C5-2364592E1CAD}"/>
              </a:ext>
            </a:extLst>
          </p:cNvPr>
          <p:cNvSpPr>
            <a:spLocks noGrp="1"/>
          </p:cNvSpPr>
          <p:nvPr/>
        </p:nvSpPr>
        <p:spPr>
          <a:xfrm>
            <a:off x="8524875" y="4953000"/>
            <a:ext cx="2952750" cy="781050"/>
          </a:xfrm>
          <a:prstGeom prst="rect">
            <a:avLst/>
          </a:prstGeom>
          <a:solidFill>
            <a:srgbClr val="203B5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Bearish / Bullish / Neutral</a:t>
            </a:r>
          </a:p>
        </p:txBody>
      </p:sp>
    </p:spTree>
    <p:extLst>
      <p:ext uri="{BB962C8B-B14F-4D97-AF65-F5344CB8AC3E}">
        <p14:creationId xmlns:p14="http://schemas.microsoft.com/office/powerpoint/2010/main" val="509864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28D1EA6A-AE94-48C8-8EA0-693BD8D8541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One sentence can carry opposing signals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A07AA55-69EC-4202-A173-3B13895C4400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02 / 20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A7746D6-F8E7-46A8-A0E1-B7FED222A0D8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08204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7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“The company reported stronger earnings but warned</a:t>
            </a:r>
          </a:p>
          <a:p>
            <a:pPr algn="l">
              <a:defRPr sz="27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about weaker demand next quarter.”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1ECFB31-B9C7-49E7-B48F-8E5B38D6983C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10820400" cy="0"/>
          </a:xfrm>
          <a:prstGeom prst="line">
            <a:avLst/>
          </a:prstGeom>
          <a:noFill/>
          <a:ln w="14288">
            <a:solidFill>
              <a:srgbClr val="D5DDE5"/>
            </a:solidFill>
          </a:ln>
        </p:spPr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BDD349C-E952-420E-9062-0C61F945B5C2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rPr>
              <a:t>STRONGER EARNINGS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FDF76E9D-E61E-4CB7-8772-36155FD517D6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4857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A positive signal about recent results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00699F6-4C0A-4906-8512-60A7F701478E}"/>
              </a:ext>
            </a:extLst>
          </p:cNvPr>
          <p:cNvSpPr>
            <a:spLocks noGrp="1"/>
          </p:cNvSpPr>
          <p:nvPr/>
        </p:nvSpPr>
        <p:spPr>
          <a:xfrm>
            <a:off x="6496050" y="411480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rPr>
              <a:t>WEAKER DEMAND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28EADC2A-0A1E-4BE4-BC40-DE2F628354DB}"/>
              </a:ext>
            </a:extLst>
          </p:cNvPr>
          <p:cNvSpPr>
            <a:spLocks noGrp="1"/>
          </p:cNvSpPr>
          <p:nvPr/>
        </p:nvSpPr>
        <p:spPr>
          <a:xfrm>
            <a:off x="6496050" y="4686300"/>
            <a:ext cx="4857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A negative signal about what comes next</a:t>
            </a:r>
          </a:p>
        </p:txBody>
      </p:sp>
    </p:spTree>
    <p:extLst>
      <p:ext uri="{BB962C8B-B14F-4D97-AF65-F5344CB8AC3E}">
        <p14:creationId xmlns:p14="http://schemas.microsoft.com/office/powerpoint/2010/main" val="178268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-0">
            <a:extLst>
              <a:ext uri="{FF2B5EF4-FFF2-40B4-BE49-F238E27FC236}">
                <a16:creationId xmlns:a16="http://schemas.microsoft.com/office/drawing/2014/main" id="{8B83C96C-338B-4F23-BFCA-73205A3CEC31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The goal is faster, consistent sentiment triage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9ED0F10-9708-4A55-83F9-376E3FC9907D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03 / 20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6F4B45-633B-4B34-A6C5-F0017752B16D}"/>
              </a:ext>
            </a:extLst>
          </p:cNvPr>
          <p:cNvGraphicFramePr/>
          <p:nvPr/>
        </p:nvGraphicFramePr>
        <p:xfrm>
          <a:off x="685800" y="2009775"/>
          <a:ext cx="10820400" cy="3048000"/>
        </p:xfrm>
        <a:graphic>
          <a:graphicData uri="http://schemas.openxmlformats.org/drawingml/2006/table">
            <a:tbl>
              <a:tblPr firstRow="1"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Approach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How it works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trade-off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Manual review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person reads each text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Context needs human time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Keyword rules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Look for positive / negative words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Negation and mixed signals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This project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from labelled financial tweets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Errors still need review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-2">
            <a:extLst>
              <a:ext uri="{FF2B5EF4-FFF2-40B4-BE49-F238E27FC236}">
                <a16:creationId xmlns:a16="http://schemas.microsoft.com/office/drawing/2014/main" id="{247F41A6-C13D-43CE-A2F8-913DDADD8C26}"/>
              </a:ext>
            </a:extLst>
          </p:cNvPr>
          <p:cNvSpPr>
            <a:spLocks noGrp="1"/>
          </p:cNvSpPr>
          <p:nvPr/>
        </p:nvSpPr>
        <p:spPr>
          <a:xfrm>
            <a:off x="685800" y="5476875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Success means useful labels, measured errors, and a repeatable prediction path.</a:t>
            </a:r>
          </a:p>
        </p:txBody>
      </p:sp>
    </p:spTree>
    <p:extLst>
      <p:ext uri="{BB962C8B-B14F-4D97-AF65-F5344CB8AC3E}">
        <p14:creationId xmlns:p14="http://schemas.microsoft.com/office/powerpoint/2010/main" val="989657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E1CEFB-C538-49E4-87A3-EE3007121A23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572500" y="3214688"/>
            <a:ext cx="809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B4ECF6-8EBD-4E3E-8F57-65BB13048DF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667375" y="3214688"/>
            <a:ext cx="809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CF1CD05-E1B4-46CE-A1E1-1D71CCD7BD21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781300" y="3214688"/>
            <a:ext cx="79057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sp>
        <p:nvSpPr>
          <p:cNvPr id="17" name="text-0">
            <a:extLst>
              <a:ext uri="{FF2B5EF4-FFF2-40B4-BE49-F238E27FC236}">
                <a16:creationId xmlns:a16="http://schemas.microsoft.com/office/drawing/2014/main" id="{C9C7B651-F6E0-46FA-88C6-935E0043F6D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The solution turns financial text into three probabilities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18E02834-5E6E-43EF-B98F-068B8963BF94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04 / 20</a:t>
            </a:r>
          </a:p>
        </p:txBody>
      </p:sp>
      <p:sp>
        <p:nvSpPr>
          <p:cNvPr id="3" name="Financial&#10;text">
            <a:extLst>
              <a:ext uri="{FF2B5EF4-FFF2-40B4-BE49-F238E27FC236}">
                <a16:creationId xmlns:a16="http://schemas.microsoft.com/office/drawing/2014/main" id="{DB056E2B-C61D-4992-B2BD-030AF554BC07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2095500" cy="1095375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Financial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text</a:t>
            </a:r>
          </a:p>
        </p:txBody>
      </p:sp>
      <p:sp>
        <p:nvSpPr>
          <p:cNvPr id="4" name="Clean and&#10;tokenize">
            <a:extLst>
              <a:ext uri="{FF2B5EF4-FFF2-40B4-BE49-F238E27FC236}">
                <a16:creationId xmlns:a16="http://schemas.microsoft.com/office/drawing/2014/main" id="{D6AB51DC-65E1-412F-AC45-1FDE97D18CDF}"/>
              </a:ext>
            </a:extLst>
          </p:cNvPr>
          <p:cNvSpPr>
            <a:spLocks noGrp="1"/>
          </p:cNvSpPr>
          <p:nvPr/>
        </p:nvSpPr>
        <p:spPr>
          <a:xfrm>
            <a:off x="3571875" y="2667000"/>
            <a:ext cx="2095500" cy="1095375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Clean and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tokenize</a:t>
            </a:r>
          </a:p>
        </p:txBody>
      </p:sp>
      <p:sp>
        <p:nvSpPr>
          <p:cNvPr id="5" name="Saved&#10;classifier">
            <a:extLst>
              <a:ext uri="{FF2B5EF4-FFF2-40B4-BE49-F238E27FC236}">
                <a16:creationId xmlns:a16="http://schemas.microsoft.com/office/drawing/2014/main" id="{1710D5B6-9F3E-4EB5-B2AD-2A2635F3F7B5}"/>
              </a:ext>
            </a:extLst>
          </p:cNvPr>
          <p:cNvSpPr>
            <a:spLocks noGrp="1"/>
          </p:cNvSpPr>
          <p:nvPr/>
        </p:nvSpPr>
        <p:spPr>
          <a:xfrm>
            <a:off x="6477000" y="2667000"/>
            <a:ext cx="2095500" cy="1095375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Saved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classifier</a:t>
            </a:r>
          </a:p>
        </p:txBody>
      </p:sp>
      <p:sp>
        <p:nvSpPr>
          <p:cNvPr id="6" name="Class +&#10;probabilities">
            <a:extLst>
              <a:ext uri="{FF2B5EF4-FFF2-40B4-BE49-F238E27FC236}">
                <a16:creationId xmlns:a16="http://schemas.microsoft.com/office/drawing/2014/main" id="{98AEC7A8-03EF-41EF-BA84-DDF572836EC2}"/>
              </a:ext>
            </a:extLst>
          </p:cNvPr>
          <p:cNvSpPr>
            <a:spLocks noGrp="1"/>
          </p:cNvSpPr>
          <p:nvPr/>
        </p:nvSpPr>
        <p:spPr>
          <a:xfrm>
            <a:off x="9382125" y="2667000"/>
            <a:ext cx="2095500" cy="1095375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Class +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probabilities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0C4E4406-BB4D-40EF-9CBE-9A285B460DE3}"/>
              </a:ext>
            </a:extLst>
          </p:cNvPr>
          <p:cNvSpPr>
            <a:spLocks noGrp="1"/>
          </p:cNvSpPr>
          <p:nvPr/>
        </p:nvSpPr>
        <p:spPr>
          <a:xfrm>
            <a:off x="1428750" y="4695825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55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rPr>
              <a:t>Bearish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FA3EEECD-8ED3-43F3-BB21-A80AFB4D7C3C}"/>
              </a:ext>
            </a:extLst>
          </p:cNvPr>
          <p:cNvSpPr>
            <a:spLocks noGrp="1"/>
          </p:cNvSpPr>
          <p:nvPr/>
        </p:nvSpPr>
        <p:spPr>
          <a:xfrm>
            <a:off x="4953000" y="4695825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rPr>
              <a:t>Bullish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3D25F09E-946D-46A3-9536-3227F1B1847D}"/>
              </a:ext>
            </a:extLst>
          </p:cNvPr>
          <p:cNvSpPr>
            <a:spLocks noGrp="1"/>
          </p:cNvSpPr>
          <p:nvPr/>
        </p:nvSpPr>
        <p:spPr>
          <a:xfrm>
            <a:off x="8572500" y="4695825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5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Neutral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85E7B5EE-A141-4BA5-8E5F-593D4A7E8C4D}"/>
              </a:ext>
            </a:extLst>
          </p:cNvPr>
          <p:cNvSpPr>
            <a:spLocks noGrp="1"/>
          </p:cNvSpPr>
          <p:nvPr/>
        </p:nvSpPr>
        <p:spPr>
          <a:xfrm>
            <a:off x="1219200" y="5219700"/>
            <a:ext cx="2714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Negative outlook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0357DD09-4616-477D-A1B3-FCD09B505574}"/>
              </a:ext>
            </a:extLst>
          </p:cNvPr>
          <p:cNvSpPr>
            <a:spLocks noGrp="1"/>
          </p:cNvSpPr>
          <p:nvPr/>
        </p:nvSpPr>
        <p:spPr>
          <a:xfrm>
            <a:off x="4743450" y="5219700"/>
            <a:ext cx="27146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Positive outlook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2FFCEDC1-0A1D-4912-9617-443102AE42BC}"/>
              </a:ext>
            </a:extLst>
          </p:cNvPr>
          <p:cNvSpPr>
            <a:spLocks noGrp="1"/>
          </p:cNvSpPr>
          <p:nvPr/>
        </p:nvSpPr>
        <p:spPr>
          <a:xfrm>
            <a:off x="8191500" y="5219700"/>
            <a:ext cx="323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No clear direction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F7D9E882-8714-42EA-9D32-C98EDA631355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A sentiment estimate for the text. Future price movement is outside this evaluation.</a:t>
            </a:r>
          </a:p>
        </p:txBody>
      </p:sp>
    </p:spTree>
    <p:extLst>
      <p:ext uri="{BB962C8B-B14F-4D97-AF65-F5344CB8AC3E}">
        <p14:creationId xmlns:p14="http://schemas.microsoft.com/office/powerpoint/2010/main" val="1175890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-0">
            <a:extLst>
              <a:ext uri="{FF2B5EF4-FFF2-40B4-BE49-F238E27FC236}">
                <a16:creationId xmlns:a16="http://schemas.microsoft.com/office/drawing/2014/main" id="{3A51DD6C-43EA-4EAB-847F-A6AEC608596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Each technology has a specific responsibility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4829F9E-081D-447A-B942-B6F2501B9719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05 / 20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2E980E9-556A-42D3-B823-E2FDA9795BC4}"/>
              </a:ext>
            </a:extLst>
          </p:cNvPr>
          <p:cNvGraphicFramePr/>
          <p:nvPr/>
        </p:nvGraphicFramePr>
        <p:xfrm>
          <a:off x="685800" y="1952625"/>
          <a:ext cx="10820400" cy="3714750"/>
        </p:xfrm>
        <a:graphic>
          <a:graphicData uri="http://schemas.openxmlformats.org/drawingml/2006/table">
            <a:tbl>
              <a:tblPr firstRow="1"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Technology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Responsibility in this project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Jupyter + Python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Document and run the complete experiment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Datasets + pandas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Load tweets and inspect data quality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PyTorch + Transformers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 RNN / LSTM and fine-tune BERT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scikit-learn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Split data and calculate evaluation metrics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Streamlit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 text and display saved-model predictions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189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32405CCA-5AB6-4E8A-B120-17D1A0280142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The audit removes 147 problematic training rows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C533230-DE9A-484C-883C-1034C75A5281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06 / 20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10F9D30-5691-4241-9167-0145FCCCA291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3429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1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51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51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51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51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51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51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51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51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51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51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9,543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456F5936-FFC7-47F1-A75B-8DCCA468BC83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official training rows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4AB4CA83-3FB8-497E-9B8C-AA55182BC42F}"/>
              </a:ext>
            </a:extLst>
          </p:cNvPr>
          <p:cNvSpPr>
            <a:spLocks noGrp="1"/>
          </p:cNvSpPr>
          <p:nvPr/>
        </p:nvSpPr>
        <p:spPr>
          <a:xfrm>
            <a:off x="7429500" y="1981200"/>
            <a:ext cx="3714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5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5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5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5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5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5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5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5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5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5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9,396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E00AC6AB-33D2-4EB9-BADF-F6B851723280}"/>
              </a:ext>
            </a:extLst>
          </p:cNvPr>
          <p:cNvSpPr>
            <a:spLocks noGrp="1"/>
          </p:cNvSpPr>
          <p:nvPr/>
        </p:nvSpPr>
        <p:spPr>
          <a:xfrm>
            <a:off x="7429500" y="2857500"/>
            <a:ext cx="4000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eligible training rows</a:t>
            </a:r>
          </a:p>
        </p:txBody>
      </p:sp>
      <p:sp>
        <p:nvSpPr>
          <p:cNvPr id="7" name="Audit">
            <a:extLst>
              <a:ext uri="{FF2B5EF4-FFF2-40B4-BE49-F238E27FC236}">
                <a16:creationId xmlns:a16="http://schemas.microsoft.com/office/drawing/2014/main" id="{C9B4E018-3C67-4228-B052-0BF548C58B48}"/>
              </a:ext>
            </a:extLst>
          </p:cNvPr>
          <p:cNvSpPr>
            <a:spLocks noGrp="1"/>
          </p:cNvSpPr>
          <p:nvPr/>
        </p:nvSpPr>
        <p:spPr>
          <a:xfrm>
            <a:off x="4572000" y="2381250"/>
            <a:ext cx="2095500" cy="8001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91C454F-52F2-44CC-90C0-D3317649B6FC}"/>
              </a:ext>
            </a:extLst>
          </p:cNvPr>
          <p:cNvSpPr>
            <a:spLocks noGrp="1"/>
          </p:cNvSpPr>
          <p:nvPr/>
        </p:nvSpPr>
        <p:spPr>
          <a:xfrm>
            <a:off x="3781425" y="2781300"/>
            <a:ext cx="685800" cy="0"/>
          </a:xfrm>
          <a:prstGeom prst="line">
            <a:avLst/>
          </a:prstGeom>
          <a:noFill/>
          <a:ln w="19050">
            <a:solidFill>
              <a:srgbClr val="087F8C"/>
            </a:solidFill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DF548F3-BD8C-4C2E-B642-52BE14D36C88}"/>
              </a:ext>
            </a:extLst>
          </p:cNvPr>
          <p:cNvSpPr>
            <a:spLocks noGrp="1"/>
          </p:cNvSpPr>
          <p:nvPr/>
        </p:nvSpPr>
        <p:spPr>
          <a:xfrm>
            <a:off x="6762750" y="2781300"/>
            <a:ext cx="523875" cy="0"/>
          </a:xfrm>
          <a:prstGeom prst="line">
            <a:avLst/>
          </a:prstGeom>
          <a:noFill/>
          <a:ln w="19050">
            <a:solidFill>
              <a:srgbClr val="087F8C"/>
            </a:solidFill>
          </a:ln>
        </p:spPr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B2EDDFA-F5B4-4C22-A50F-01F87CBAD859}"/>
              </a:ext>
            </a:extLst>
          </p:cNvPr>
          <p:cNvGraphicFramePr/>
          <p:nvPr/>
        </p:nvGraphicFramePr>
        <p:xfrm>
          <a:off x="685800" y="3790950"/>
          <a:ext cx="6572250" cy="2381250"/>
        </p:xfrm>
        <a:graphic>
          <a:graphicData uri="http://schemas.openxmlformats.org/drawingml/2006/table">
            <a:tbl>
              <a:tblPr firstRow="1"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exclusion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Invalid text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Conflicting labels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Repeated text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105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 overlap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-9">
            <a:extLst>
              <a:ext uri="{FF2B5EF4-FFF2-40B4-BE49-F238E27FC236}">
                <a16:creationId xmlns:a16="http://schemas.microsoft.com/office/drawing/2014/main" id="{E5F86583-9DB8-4081-B646-CAE34A566AF6}"/>
              </a:ext>
            </a:extLst>
          </p:cNvPr>
          <p:cNvSpPr>
            <a:spLocks noGrp="1"/>
          </p:cNvSpPr>
          <p:nvPr/>
        </p:nvSpPr>
        <p:spPr>
          <a:xfrm>
            <a:off x="7905750" y="4171950"/>
            <a:ext cx="35242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2,388 validation rows</a:t>
            </a:r>
          </a:p>
          <a:p>
            <a: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remain unchanged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64EC0ED5-0A8F-419F-9DAE-096D6D399B88}"/>
              </a:ext>
            </a:extLst>
          </p:cNvPr>
          <p:cNvSpPr>
            <a:spLocks noGrp="1"/>
          </p:cNvSpPr>
          <p:nvPr/>
        </p:nvSpPr>
        <p:spPr>
          <a:xfrm>
            <a:off x="7905750" y="5486400"/>
            <a:ext cx="3524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Measured from the</a:t>
            </a:r>
          </a:p>
          <a:p>
            <a: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loaded source files.</a:t>
            </a:r>
          </a:p>
        </p:txBody>
      </p:sp>
    </p:spTree>
    <p:extLst>
      <p:ext uri="{BB962C8B-B14F-4D97-AF65-F5344CB8AC3E}">
        <p14:creationId xmlns:p14="http://schemas.microsoft.com/office/powerpoint/2010/main" val="1660280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C533E3F2-DDEE-4546-8506-278ED7E7FB59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3352800" y="3019425"/>
            <a:ext cx="1314450" cy="1304925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sm" len="sm"/>
          </a:ln>
        </p:spPr>
      </p:cxn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321EFCD2-497C-421F-B28F-A55B7198E13A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3352800" y="2543175"/>
            <a:ext cx="1314450" cy="476250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sm" len="sm"/>
          </a:ln>
        </p:spPr>
      </p:cxnSp>
      <p:sp>
        <p:nvSpPr>
          <p:cNvPr id="12" name="text-0">
            <a:extLst>
              <a:ext uri="{FF2B5EF4-FFF2-40B4-BE49-F238E27FC236}">
                <a16:creationId xmlns:a16="http://schemas.microsoft.com/office/drawing/2014/main" id="{BD8CD4BF-3213-49C2-BED9-079ADC16F7EE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Fitting, model selection, and final scoring use separate rows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9750760-874C-41D2-B695-75A8A99AF42E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07 / 20</a:t>
            </a:r>
          </a:p>
        </p:txBody>
      </p:sp>
      <p:sp>
        <p:nvSpPr>
          <p:cNvPr id="3" name="9,396 eligible&#10;training rows">
            <a:extLst>
              <a:ext uri="{FF2B5EF4-FFF2-40B4-BE49-F238E27FC236}">
                <a16:creationId xmlns:a16="http://schemas.microsoft.com/office/drawing/2014/main" id="{D5E07B24-0B26-4267-BF52-692E98006AF1}"/>
              </a:ext>
            </a:extLst>
          </p:cNvPr>
          <p:cNvSpPr>
            <a:spLocks noGrp="1"/>
          </p:cNvSpPr>
          <p:nvPr/>
        </p:nvSpPr>
        <p:spPr>
          <a:xfrm>
            <a:off x="685800" y="2524125"/>
            <a:ext cx="2667000" cy="9906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9,396 eligible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training rows</a:t>
            </a:r>
          </a:p>
        </p:txBody>
      </p:sp>
      <p:sp>
        <p:nvSpPr>
          <p:cNvPr id="4" name="7,986 fitting&#10;Learn weights">
            <a:extLst>
              <a:ext uri="{FF2B5EF4-FFF2-40B4-BE49-F238E27FC236}">
                <a16:creationId xmlns:a16="http://schemas.microsoft.com/office/drawing/2014/main" id="{C80716A4-48AD-4CF6-9F29-DB316CDB6D41}"/>
              </a:ext>
            </a:extLst>
          </p:cNvPr>
          <p:cNvSpPr>
            <a:spLocks noGrp="1"/>
          </p:cNvSpPr>
          <p:nvPr/>
        </p:nvSpPr>
        <p:spPr>
          <a:xfrm>
            <a:off x="4667250" y="2019300"/>
            <a:ext cx="3143250" cy="104775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7,986 fitting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Learn weights</a:t>
            </a:r>
          </a:p>
        </p:txBody>
      </p:sp>
      <p:sp>
        <p:nvSpPr>
          <p:cNvPr id="5" name="1,410 development&#10;Choose checkpoints">
            <a:extLst>
              <a:ext uri="{FF2B5EF4-FFF2-40B4-BE49-F238E27FC236}">
                <a16:creationId xmlns:a16="http://schemas.microsoft.com/office/drawing/2014/main" id="{3330A409-59A9-4BD0-984D-4445D5986874}"/>
              </a:ext>
            </a:extLst>
          </p:cNvPr>
          <p:cNvSpPr>
            <a:spLocks noGrp="1"/>
          </p:cNvSpPr>
          <p:nvPr/>
        </p:nvSpPr>
        <p:spPr>
          <a:xfrm>
            <a:off x="4667250" y="3800475"/>
            <a:ext cx="3143250" cy="104775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1,410 development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Choose checkpoints</a:t>
            </a:r>
          </a:p>
        </p:txBody>
      </p:sp>
      <p:sp>
        <p:nvSpPr>
          <p:cNvPr id="8" name="2,388 official&#10;validation rows">
            <a:extLst>
              <a:ext uri="{FF2B5EF4-FFF2-40B4-BE49-F238E27FC236}">
                <a16:creationId xmlns:a16="http://schemas.microsoft.com/office/drawing/2014/main" id="{3562B524-EFA2-4298-9416-6E52D4F5C4B4}"/>
              </a:ext>
            </a:extLst>
          </p:cNvPr>
          <p:cNvSpPr>
            <a:spLocks noGrp="1"/>
          </p:cNvSpPr>
          <p:nvPr/>
        </p:nvSpPr>
        <p:spPr>
          <a:xfrm>
            <a:off x="8610600" y="2905125"/>
            <a:ext cx="2857500" cy="104775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2,388 official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validation rows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F56F0615-47AD-4083-9E58-536CA06E2CD5}"/>
              </a:ext>
            </a:extLst>
          </p:cNvPr>
          <p:cNvSpPr>
            <a:spLocks noGrp="1"/>
          </p:cNvSpPr>
          <p:nvPr/>
        </p:nvSpPr>
        <p:spPr>
          <a:xfrm>
            <a:off x="8639175" y="42862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Final scoring only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8A2C3740-07AB-4135-8572-C599B4822149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Fitting-derived vocabulary and class weights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5317D00E-E6BE-4504-8726-1F0FF10A8887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108204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No separate official test split exists in this dataset.</a:t>
            </a:r>
          </a:p>
        </p:txBody>
      </p:sp>
    </p:spTree>
    <p:extLst>
      <p:ext uri="{BB962C8B-B14F-4D97-AF65-F5344CB8AC3E}">
        <p14:creationId xmlns:p14="http://schemas.microsoft.com/office/powerpoint/2010/main" val="1386121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0">
            <a:extLst>
              <a:ext uri="{FF2B5EF4-FFF2-40B4-BE49-F238E27FC236}">
                <a16:creationId xmlns:a16="http://schemas.microsoft.com/office/drawing/2014/main" id="{CE43E4AD-1436-4E3A-8341-C1E71D89F4E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Cleaning preserves the words that change financial meaning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17F96384-3357-4730-A913-9541A9B7DADE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08 / 20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5BA80A9D-DF37-43AA-A61B-F814E0D09780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Input example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093AEFA-3940-4118-9C00-9B9B15DC5CCC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4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$AAPL earnings are not down 10%!</a:t>
            </a:r>
          </a:p>
          <a:p>
            <a:pPr algn="l">
              <a:defRPr sz="24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https://example.com @analyst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282AB47-B256-44CA-AE83-0FA064C83BB3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10820400" cy="0"/>
          </a:xfrm>
          <a:prstGeom prst="line">
            <a:avLst/>
          </a:prstGeom>
          <a:noFill/>
          <a:ln w="14288">
            <a:solidFill>
              <a:srgbClr val="D5DDE5"/>
            </a:solidFill>
          </a:ln>
        </p:spPr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D9B44EE7-CCB8-44D7-A88E-0B181A7755C6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After cleaning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BE2F5433-44A1-4D9F-A4DF-624998DC183E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7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$AAPL earnings are not down 10%!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F28FF5DA-E29E-43C3-A5F8-73F2BF5E8E0F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4857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RNN / LSTM</a:t>
            </a:r>
          </a:p>
          <a:p>
            <a: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6,930 vocabulary entries</a:t>
            </a:r>
          </a:p>
          <a:p>
            <a: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28-token limit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952472E8-AE85-4703-9EBF-E02FE5B19983}"/>
              </a:ext>
            </a:extLst>
          </p:cNvPr>
          <p:cNvSpPr>
            <a:spLocks noGrp="1"/>
          </p:cNvSpPr>
          <p:nvPr/>
        </p:nvSpPr>
        <p:spPr>
          <a:xfrm>
            <a:off x="6762750" y="5353050"/>
            <a:ext cx="46672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BERT</a:t>
            </a:r>
          </a:p>
          <a:p>
            <a: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Matching pretrained tokenizer</a:t>
            </a:r>
          </a:p>
          <a:p>
            <a: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128-token limit</a:t>
            </a:r>
          </a:p>
        </p:txBody>
      </p:sp>
    </p:spTree>
    <p:extLst>
      <p:ext uri="{BB962C8B-B14F-4D97-AF65-F5344CB8AC3E}">
        <p14:creationId xmlns:p14="http://schemas.microsoft.com/office/powerpoint/2010/main" val="442673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630FBA6-1991-4617-9D74-AE8F46296994}"/>
              </a:ext>
            </a:extLst>
          </p:cNvPr>
          <p:cNvCxnSpPr>
            <a:stCxn id="22" idx="3"/>
            <a:endCxn id="23" idx="1"/>
          </p:cNvCxnSpPr>
          <p:nvPr/>
        </p:nvCxnSpPr>
        <p:spPr>
          <a:xfrm>
            <a:off x="9382125" y="5114925"/>
            <a:ext cx="30480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AACE367-4883-4C15-AC11-63016B8853FF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7077075" y="5114925"/>
            <a:ext cx="30480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1B5BAE8-AB07-4A13-8915-0D2FE8282D18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4772025" y="5114925"/>
            <a:ext cx="30480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CB485E-DAAE-43C6-B098-D6EE5C07FE33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9382125" y="3790950"/>
            <a:ext cx="30480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CAB541E-455F-4166-B18A-D2F0AD049C2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7077075" y="3790950"/>
            <a:ext cx="30480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5323F4-E927-4628-93B7-CCD996A94DEB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4772025" y="3790950"/>
            <a:ext cx="30480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552B66-0A3B-4A09-8194-3AD26FC5EA0F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9382125" y="2466975"/>
            <a:ext cx="30480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C75E75-BCE7-42F1-AB3C-6B557F027D0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077075" y="2466975"/>
            <a:ext cx="30480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9D4065-6AFF-4088-9521-3099C82B044B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772025" y="2466975"/>
            <a:ext cx="30480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sp>
        <p:nvSpPr>
          <p:cNvPr id="28" name="text-0">
            <a:extLst>
              <a:ext uri="{FF2B5EF4-FFF2-40B4-BE49-F238E27FC236}">
                <a16:creationId xmlns:a16="http://schemas.microsoft.com/office/drawing/2014/main" id="{831AEAA8-7621-40F6-963C-24834D1EFE9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The comparison tests how much context the models can use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A93F587E-7D48-43BE-B406-0A7EF42AC712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09 / 20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19E9FFD6-4DFA-4E00-88C9-A51E23089F47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Simple RNN</a:t>
            </a:r>
          </a:p>
        </p:txBody>
      </p:sp>
      <p:sp>
        <p:nvSpPr>
          <p:cNvPr id="4" name="Embedding">
            <a:extLst>
              <a:ext uri="{FF2B5EF4-FFF2-40B4-BE49-F238E27FC236}">
                <a16:creationId xmlns:a16="http://schemas.microsoft.com/office/drawing/2014/main" id="{FEABF68E-FC29-421B-96B4-36D51DAEF53B}"/>
              </a:ext>
            </a:extLst>
          </p:cNvPr>
          <p:cNvSpPr>
            <a:spLocks noGrp="1"/>
          </p:cNvSpPr>
          <p:nvPr/>
        </p:nvSpPr>
        <p:spPr>
          <a:xfrm>
            <a:off x="2771775" y="2028825"/>
            <a:ext cx="2000250" cy="8763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Embedding</a:t>
            </a:r>
          </a:p>
        </p:txBody>
      </p:sp>
      <p:sp>
        <p:nvSpPr>
          <p:cNvPr id="5" name="Sequential&#10;state">
            <a:extLst>
              <a:ext uri="{FF2B5EF4-FFF2-40B4-BE49-F238E27FC236}">
                <a16:creationId xmlns:a16="http://schemas.microsoft.com/office/drawing/2014/main" id="{5D3F20D6-F017-44E3-A2C2-128F9DD93DD2}"/>
              </a:ext>
            </a:extLst>
          </p:cNvPr>
          <p:cNvSpPr>
            <a:spLocks noGrp="1"/>
          </p:cNvSpPr>
          <p:nvPr/>
        </p:nvSpPr>
        <p:spPr>
          <a:xfrm>
            <a:off x="5076825" y="2028825"/>
            <a:ext cx="2000250" cy="8763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Sequential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state</a:t>
            </a:r>
          </a:p>
        </p:txBody>
      </p:sp>
      <p:sp>
        <p:nvSpPr>
          <p:cNvPr id="6" name="Masked&#10;pooling">
            <a:extLst>
              <a:ext uri="{FF2B5EF4-FFF2-40B4-BE49-F238E27FC236}">
                <a16:creationId xmlns:a16="http://schemas.microsoft.com/office/drawing/2014/main" id="{4738579F-3D22-469E-86BE-D42E160AF9B6}"/>
              </a:ext>
            </a:extLst>
          </p:cNvPr>
          <p:cNvSpPr>
            <a:spLocks noGrp="1"/>
          </p:cNvSpPr>
          <p:nvPr/>
        </p:nvSpPr>
        <p:spPr>
          <a:xfrm>
            <a:off x="7381875" y="2028825"/>
            <a:ext cx="2000250" cy="8763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Masked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pooling</a:t>
            </a:r>
          </a:p>
        </p:txBody>
      </p:sp>
      <p:sp>
        <p:nvSpPr>
          <p:cNvPr id="7" name="3 scores">
            <a:extLst>
              <a:ext uri="{FF2B5EF4-FFF2-40B4-BE49-F238E27FC236}">
                <a16:creationId xmlns:a16="http://schemas.microsoft.com/office/drawing/2014/main" id="{76FE87C1-8BB1-461B-9F11-C1B02611C610}"/>
              </a:ext>
            </a:extLst>
          </p:cNvPr>
          <p:cNvSpPr>
            <a:spLocks noGrp="1"/>
          </p:cNvSpPr>
          <p:nvPr/>
        </p:nvSpPr>
        <p:spPr>
          <a:xfrm>
            <a:off x="9686925" y="2028825"/>
            <a:ext cx="2000250" cy="8763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3 scores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4C58D2AF-45BF-4F40-B0D0-78583986EA9F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LSTM</a:t>
            </a:r>
          </a:p>
        </p:txBody>
      </p:sp>
      <p:sp>
        <p:nvSpPr>
          <p:cNvPr id="12" name="Embedding">
            <a:extLst>
              <a:ext uri="{FF2B5EF4-FFF2-40B4-BE49-F238E27FC236}">
                <a16:creationId xmlns:a16="http://schemas.microsoft.com/office/drawing/2014/main" id="{23366638-84AC-4CAF-99C4-8AD3721FAAC7}"/>
              </a:ext>
            </a:extLst>
          </p:cNvPr>
          <p:cNvSpPr>
            <a:spLocks noGrp="1"/>
          </p:cNvSpPr>
          <p:nvPr/>
        </p:nvSpPr>
        <p:spPr>
          <a:xfrm>
            <a:off x="2771775" y="3352800"/>
            <a:ext cx="2000250" cy="8763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Embedding</a:t>
            </a:r>
          </a:p>
        </p:txBody>
      </p:sp>
      <p:sp>
        <p:nvSpPr>
          <p:cNvPr id="13" name="Gated&#10;memory">
            <a:extLst>
              <a:ext uri="{FF2B5EF4-FFF2-40B4-BE49-F238E27FC236}">
                <a16:creationId xmlns:a16="http://schemas.microsoft.com/office/drawing/2014/main" id="{559D5B95-EC2C-4573-B771-20B2A37C9542}"/>
              </a:ext>
            </a:extLst>
          </p:cNvPr>
          <p:cNvSpPr>
            <a:spLocks noGrp="1"/>
          </p:cNvSpPr>
          <p:nvPr/>
        </p:nvSpPr>
        <p:spPr>
          <a:xfrm>
            <a:off x="5076825" y="3352800"/>
            <a:ext cx="2000250" cy="8763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Gated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memory</a:t>
            </a:r>
          </a:p>
        </p:txBody>
      </p:sp>
      <p:sp>
        <p:nvSpPr>
          <p:cNvPr id="14" name="Masked&#10;pooling">
            <a:extLst>
              <a:ext uri="{FF2B5EF4-FFF2-40B4-BE49-F238E27FC236}">
                <a16:creationId xmlns:a16="http://schemas.microsoft.com/office/drawing/2014/main" id="{8F492DE9-F41E-48B4-9DD1-F744ED78C69D}"/>
              </a:ext>
            </a:extLst>
          </p:cNvPr>
          <p:cNvSpPr>
            <a:spLocks noGrp="1"/>
          </p:cNvSpPr>
          <p:nvPr/>
        </p:nvSpPr>
        <p:spPr>
          <a:xfrm>
            <a:off x="7381875" y="3352800"/>
            <a:ext cx="2000250" cy="8763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Masked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pooling</a:t>
            </a:r>
          </a:p>
        </p:txBody>
      </p:sp>
      <p:sp>
        <p:nvSpPr>
          <p:cNvPr id="15" name="3 scores">
            <a:extLst>
              <a:ext uri="{FF2B5EF4-FFF2-40B4-BE49-F238E27FC236}">
                <a16:creationId xmlns:a16="http://schemas.microsoft.com/office/drawing/2014/main" id="{1C364E68-B5C4-4FCA-BC88-982E12258078}"/>
              </a:ext>
            </a:extLst>
          </p:cNvPr>
          <p:cNvSpPr>
            <a:spLocks noGrp="1"/>
          </p:cNvSpPr>
          <p:nvPr/>
        </p:nvSpPr>
        <p:spPr>
          <a:xfrm>
            <a:off x="9686925" y="3352800"/>
            <a:ext cx="2000250" cy="8763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3 scores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E8504A0E-12EE-47C6-96C4-BB276037CC65}"/>
              </a:ext>
            </a:extLst>
          </p:cNvPr>
          <p:cNvSpPr>
            <a:spLocks noGrp="1"/>
          </p:cNvSpPr>
          <p:nvPr/>
        </p:nvSpPr>
        <p:spPr>
          <a:xfrm>
            <a:off x="685800" y="4886325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BERT</a:t>
            </a:r>
          </a:p>
        </p:txBody>
      </p:sp>
      <p:sp>
        <p:nvSpPr>
          <p:cNvPr id="20" name="Pretrained&#10;tokenizer">
            <a:extLst>
              <a:ext uri="{FF2B5EF4-FFF2-40B4-BE49-F238E27FC236}">
                <a16:creationId xmlns:a16="http://schemas.microsoft.com/office/drawing/2014/main" id="{A7CEBF93-B3AE-4BFD-8887-FA0E5932F717}"/>
              </a:ext>
            </a:extLst>
          </p:cNvPr>
          <p:cNvSpPr>
            <a:spLocks noGrp="1"/>
          </p:cNvSpPr>
          <p:nvPr/>
        </p:nvSpPr>
        <p:spPr>
          <a:xfrm>
            <a:off x="2771775" y="4676775"/>
            <a:ext cx="2000250" cy="8763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Pretrained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tokenizer</a:t>
            </a:r>
          </a:p>
        </p:txBody>
      </p:sp>
      <p:sp>
        <p:nvSpPr>
          <p:cNvPr id="21" name="Pretrained&#10;encoder">
            <a:extLst>
              <a:ext uri="{FF2B5EF4-FFF2-40B4-BE49-F238E27FC236}">
                <a16:creationId xmlns:a16="http://schemas.microsoft.com/office/drawing/2014/main" id="{DB0D14BB-E34B-4665-866C-68C36F9D2AED}"/>
              </a:ext>
            </a:extLst>
          </p:cNvPr>
          <p:cNvSpPr>
            <a:spLocks noGrp="1"/>
          </p:cNvSpPr>
          <p:nvPr/>
        </p:nvSpPr>
        <p:spPr>
          <a:xfrm>
            <a:off x="5076825" y="4676775"/>
            <a:ext cx="2000250" cy="8763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Pretrained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encoder</a:t>
            </a:r>
          </a:p>
        </p:txBody>
      </p:sp>
      <p:sp>
        <p:nvSpPr>
          <p:cNvPr id="22" name="Classifier&#10;head">
            <a:extLst>
              <a:ext uri="{FF2B5EF4-FFF2-40B4-BE49-F238E27FC236}">
                <a16:creationId xmlns:a16="http://schemas.microsoft.com/office/drawing/2014/main" id="{AC7CCFC5-CAE2-44ED-85FA-801C4B4EA199}"/>
              </a:ext>
            </a:extLst>
          </p:cNvPr>
          <p:cNvSpPr>
            <a:spLocks noGrp="1"/>
          </p:cNvSpPr>
          <p:nvPr/>
        </p:nvSpPr>
        <p:spPr>
          <a:xfrm>
            <a:off x="7381875" y="4676775"/>
            <a:ext cx="2000250" cy="8763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Classifier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head</a:t>
            </a:r>
          </a:p>
        </p:txBody>
      </p:sp>
      <p:sp>
        <p:nvSpPr>
          <p:cNvPr id="23" name="3 scores">
            <a:extLst>
              <a:ext uri="{FF2B5EF4-FFF2-40B4-BE49-F238E27FC236}">
                <a16:creationId xmlns:a16="http://schemas.microsoft.com/office/drawing/2014/main" id="{60CB8D32-BF18-4414-88B6-6B89438D8E1F}"/>
              </a:ext>
            </a:extLst>
          </p:cNvPr>
          <p:cNvSpPr>
            <a:spLocks noGrp="1"/>
          </p:cNvSpPr>
          <p:nvPr/>
        </p:nvSpPr>
        <p:spPr>
          <a:xfrm>
            <a:off x="9686925" y="4676775"/>
            <a:ext cx="2000250" cy="8763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3 scores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089A6CAD-13C8-4C2F-92D6-ABCC39E61203}"/>
              </a:ext>
            </a:extLst>
          </p:cNvPr>
          <p:cNvSpPr>
            <a:spLocks noGrp="1"/>
          </p:cNvSpPr>
          <p:nvPr/>
        </p:nvSpPr>
        <p:spPr>
          <a:xfrm>
            <a:off x="685800" y="612457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All candidates use the same fitting, development, and validation examples.</a:t>
            </a:r>
          </a:p>
        </p:txBody>
      </p:sp>
    </p:spTree>
    <p:extLst>
      <p:ext uri="{BB962C8B-B14F-4D97-AF65-F5344CB8AC3E}">
        <p14:creationId xmlns:p14="http://schemas.microsoft.com/office/powerpoint/2010/main" val="925277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ABEEB0ED-E3E9-464B-B148-AE10AFF7344D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Development F1 selects BERT’s second-epoch checkpoint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E47C118-1201-4B92-897F-F4636899562C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10 / 20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0FCA8C70-1C64-47DA-B2A1-DAD582E0AFE8}"/>
              </a:ext>
            </a:extLst>
          </p:cNvPr>
          <p:cNvGraphicFramePr/>
          <p:nvPr/>
        </p:nvGraphicFramePr>
        <p:xfrm>
          <a:off x="685800" y="2124075"/>
          <a:ext cx="657225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-2">
            <a:extLst>
              <a:ext uri="{FF2B5EF4-FFF2-40B4-BE49-F238E27FC236}">
                <a16:creationId xmlns:a16="http://schemas.microsoft.com/office/drawing/2014/main" id="{ACBDB3CC-9F05-4ED6-8235-12C8CA81776E}"/>
              </a:ext>
            </a:extLst>
          </p:cNvPr>
          <p:cNvSpPr>
            <a:spLocks noGrp="1"/>
          </p:cNvSpPr>
          <p:nvPr/>
        </p:nvSpPr>
        <p:spPr>
          <a:xfrm>
            <a:off x="7667625" y="2238375"/>
            <a:ext cx="3810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Batch size 8, accumulated twice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C6362EA2-B7C7-4BFD-8F49-BB99D077C602}"/>
              </a:ext>
            </a:extLst>
          </p:cNvPr>
          <p:cNvSpPr>
            <a:spLocks noGrp="1"/>
          </p:cNvSpPr>
          <p:nvPr/>
        </p:nvSpPr>
        <p:spPr>
          <a:xfrm>
            <a:off x="7667625" y="3076575"/>
            <a:ext cx="3810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Warmup and gradient clipping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3463C17F-EC82-44F7-9D2F-8AB62458D8DF}"/>
              </a:ext>
            </a:extLst>
          </p:cNvPr>
          <p:cNvSpPr>
            <a:spLocks noGrp="1"/>
          </p:cNvSpPr>
          <p:nvPr/>
        </p:nvSpPr>
        <p:spPr>
          <a:xfrm>
            <a:off x="7667625" y="3914775"/>
            <a:ext cx="3810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Early stopping by development F1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3F05FC77-1425-4DCE-A8E5-EB944B4A95A2}"/>
              </a:ext>
            </a:extLst>
          </p:cNvPr>
          <p:cNvSpPr>
            <a:spLocks noGrp="1"/>
          </p:cNvSpPr>
          <p:nvPr/>
        </p:nvSpPr>
        <p:spPr>
          <a:xfrm>
            <a:off x="7667625" y="4752975"/>
            <a:ext cx="3810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RNN: up to 12 epochs per trial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F33A9D88-F616-41E2-8A8D-9F509B742A7D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820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F1 balances false alarms and missed cases.</a:t>
            </a:r>
          </a:p>
          <a:p>
            <a:pPr algn="l">
              <a:def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Macro F1 gives each class an equal vote.</a:t>
            </a:r>
          </a:p>
        </p:txBody>
      </p:sp>
    </p:spTree>
    <p:extLst>
      <p:ext uri="{BB962C8B-B14F-4D97-AF65-F5344CB8AC3E}">
        <p14:creationId xmlns:p14="http://schemas.microsoft.com/office/powerpoint/2010/main" val="16526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37F753-BC22-48CC-99CC-307FDB2FF75E}"/>
              </a:ext>
            </a:extLst>
          </p:cNvPr>
          <p:cNvCxnSpPr>
            <a:stCxn id="5" idx="2"/>
            <a:endCxn id="12" idx="0"/>
          </p:cNvCxnSpPr>
          <p:nvPr/>
        </p:nvCxnSpPr>
        <p:spPr>
          <a:xfrm>
            <a:off x="6000750" y="3524250"/>
            <a:ext cx="0" cy="148590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97C966-0CBB-4FF9-A5F3-89F8A36F4DD6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7620000" y="5486400"/>
            <a:ext cx="1190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D5AAFC-FB98-42C9-BF47-6630EEE92FCB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3114675" y="5486400"/>
            <a:ext cx="12668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A26355-0533-4E80-AAFE-70C1C4B56D91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620000" y="3048000"/>
            <a:ext cx="1190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9C314E-C512-4CF5-9FB4-9DBFFE313CBB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114675" y="3048000"/>
            <a:ext cx="12668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sm" len="sm"/>
          </a:ln>
        </p:spPr>
      </p:cxnSp>
      <p:sp>
        <p:nvSpPr>
          <p:cNvPr id="17" name="text-0">
            <a:extLst>
              <a:ext uri="{FF2B5EF4-FFF2-40B4-BE49-F238E27FC236}">
                <a16:creationId xmlns:a16="http://schemas.microsoft.com/office/drawing/2014/main" id="{F1090E37-1CC0-4E9C-AFFA-D9DC223DDDF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Saved artifacts connect the notebook to the application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CC172DC-C667-48E6-A0DD-23074484728E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11 / 20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17643051-B03C-493C-8097-7315CA7CBB76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TRAINING</a:t>
            </a:r>
          </a:p>
        </p:txBody>
      </p:sp>
      <p:sp>
        <p:nvSpPr>
          <p:cNvPr id="4" name="Notebook&#10;experiments">
            <a:extLst>
              <a:ext uri="{FF2B5EF4-FFF2-40B4-BE49-F238E27FC236}">
                <a16:creationId xmlns:a16="http://schemas.microsoft.com/office/drawing/2014/main" id="{FF2558F1-AA40-45B0-8A2B-3B19D7171046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428875" cy="9525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Notebook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experiments</a:t>
            </a:r>
          </a:p>
        </p:txBody>
      </p:sp>
      <p:sp>
        <p:nvSpPr>
          <p:cNvPr id="5" name="Saved run folder&#10;weights + tokenizer">
            <a:extLst>
              <a:ext uri="{FF2B5EF4-FFF2-40B4-BE49-F238E27FC236}">
                <a16:creationId xmlns:a16="http://schemas.microsoft.com/office/drawing/2014/main" id="{D7714315-582F-478D-8F40-12B3BBE905FA}"/>
              </a:ext>
            </a:extLst>
          </p:cNvPr>
          <p:cNvSpPr>
            <a:spLocks noGrp="1"/>
          </p:cNvSpPr>
          <p:nvPr/>
        </p:nvSpPr>
        <p:spPr>
          <a:xfrm>
            <a:off x="4381500" y="2571750"/>
            <a:ext cx="3238500" cy="9525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Saved run folder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weights + tokenizer</a:t>
            </a:r>
          </a:p>
        </p:txBody>
      </p:sp>
      <p:sp>
        <p:nvSpPr>
          <p:cNvPr id="6" name="Manifest&#10;model + labels">
            <a:extLst>
              <a:ext uri="{FF2B5EF4-FFF2-40B4-BE49-F238E27FC236}">
                <a16:creationId xmlns:a16="http://schemas.microsoft.com/office/drawing/2014/main" id="{029E9E1E-B4E3-45F2-9C35-ACA381D10E6A}"/>
              </a:ext>
            </a:extLst>
          </p:cNvPr>
          <p:cNvSpPr>
            <a:spLocks noGrp="1"/>
          </p:cNvSpPr>
          <p:nvPr/>
        </p:nvSpPr>
        <p:spPr>
          <a:xfrm>
            <a:off x="8810625" y="2571750"/>
            <a:ext cx="2667000" cy="9525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Manifest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model + labels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4B1B52ED-2ED0-48DD-B1A5-C805B01EE33A}"/>
              </a:ext>
            </a:extLst>
          </p:cNvPr>
          <p:cNvSpPr>
            <a:spLocks noGrp="1"/>
          </p:cNvSpPr>
          <p:nvPr/>
        </p:nvSpPr>
        <p:spPr>
          <a:xfrm>
            <a:off x="685800" y="4038600"/>
            <a:ext cx="10820400" cy="0"/>
          </a:xfrm>
          <a:prstGeom prst="line">
            <a:avLst/>
          </a:prstGeom>
          <a:noFill/>
          <a:ln w="14288">
            <a:solidFill>
              <a:srgbClr val="D5DDE5"/>
            </a:solidFill>
          </a:ln>
        </p:spPr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1C445A08-F90D-4773-A383-D8CB8008D31F}"/>
              </a:ext>
            </a:extLst>
          </p:cNvPr>
          <p:cNvSpPr>
            <a:spLocks noGrp="1"/>
          </p:cNvSpPr>
          <p:nvPr/>
        </p:nvSpPr>
        <p:spPr>
          <a:xfrm>
            <a:off x="685800" y="43910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PREDICTION</a:t>
            </a:r>
          </a:p>
        </p:txBody>
      </p:sp>
      <p:sp>
        <p:nvSpPr>
          <p:cNvPr id="11" name="app.py&#10;User text">
            <a:extLst>
              <a:ext uri="{FF2B5EF4-FFF2-40B4-BE49-F238E27FC236}">
                <a16:creationId xmlns:a16="http://schemas.microsoft.com/office/drawing/2014/main" id="{0D0FD73A-9805-4853-91AA-A22F6A79193C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2428875" cy="9525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app.py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User text</a:t>
            </a:r>
          </a:p>
        </p:txBody>
      </p:sp>
      <p:sp>
        <p:nvSpPr>
          <p:cNvPr id="12" name="SentimentPredictor&#10;Loads saved BERT">
            <a:extLst>
              <a:ext uri="{FF2B5EF4-FFF2-40B4-BE49-F238E27FC236}">
                <a16:creationId xmlns:a16="http://schemas.microsoft.com/office/drawing/2014/main" id="{163CA69F-7025-4859-A9B5-ACEB15A9C79B}"/>
              </a:ext>
            </a:extLst>
          </p:cNvPr>
          <p:cNvSpPr>
            <a:spLocks noGrp="1"/>
          </p:cNvSpPr>
          <p:nvPr/>
        </p:nvSpPr>
        <p:spPr>
          <a:xfrm>
            <a:off x="4381500" y="5010150"/>
            <a:ext cx="3238500" cy="9525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SentimentPredictor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Loads saved BERT</a:t>
            </a:r>
          </a:p>
        </p:txBody>
      </p:sp>
      <p:sp>
        <p:nvSpPr>
          <p:cNvPr id="13" name="Sentiment +&#10;probabilities">
            <a:extLst>
              <a:ext uri="{FF2B5EF4-FFF2-40B4-BE49-F238E27FC236}">
                <a16:creationId xmlns:a16="http://schemas.microsoft.com/office/drawing/2014/main" id="{E6E0D27F-6744-4B9C-91D8-616996812A74}"/>
              </a:ext>
            </a:extLst>
          </p:cNvPr>
          <p:cNvSpPr>
            <a:spLocks noGrp="1"/>
          </p:cNvSpPr>
          <p:nvPr/>
        </p:nvSpPr>
        <p:spPr>
          <a:xfrm>
            <a:off x="8810625" y="5010150"/>
            <a:ext cx="2667000" cy="952500"/>
          </a:xfrm>
          <a:prstGeom prst="rect">
            <a:avLst/>
          </a:prstGeom>
          <a:solidFill>
            <a:srgbClr val="E8EFF3"/>
          </a:solidFill>
          <a:ln w="11430">
            <a:solidFill>
              <a:srgbClr val="D5DDE5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Sentiment +</a:t>
            </a:r>
          </a:p>
          <a:p>
            <a:pPr algn="ctr">
              <a:def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probabilities</a:t>
            </a:r>
          </a:p>
        </p:txBody>
      </p:sp>
    </p:spTree>
    <p:extLst>
      <p:ext uri="{BB962C8B-B14F-4D97-AF65-F5344CB8AC3E}">
        <p14:creationId xmlns:p14="http://schemas.microsoft.com/office/powerpoint/2010/main" val="491513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9049F5F2-105A-4B16-ACF5-BB57A5894F4D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BERT reaches 86.35% accuracy and 0.8296 macro F1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38DD0DD-0B05-43AC-AD24-8A9A7ECBB1EB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12 / 20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774C5736-10D4-4F85-9251-795F118313C7}"/>
              </a:ext>
            </a:extLst>
          </p:cNvPr>
          <p:cNvGraphicFramePr/>
          <p:nvPr/>
        </p:nvGraphicFramePr>
        <p:xfrm>
          <a:off x="609600" y="2162175"/>
          <a:ext cx="68580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4383E1-C9D1-405B-B2CE-4E5F1A063005}"/>
              </a:ext>
            </a:extLst>
          </p:cNvPr>
          <p:cNvGraphicFramePr/>
          <p:nvPr/>
        </p:nvGraphicFramePr>
        <p:xfrm>
          <a:off x="7953375" y="2305050"/>
          <a:ext cx="3552825" cy="2667000"/>
        </p:xfrm>
        <a:graphic>
          <a:graphicData uri="http://schemas.openxmlformats.org/drawingml/2006/table">
            <a:tbl>
              <a:tblPr firstRow="1"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Simple RNN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76.26%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LSTM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77.05%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BERT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86.35%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-2">
            <a:extLst>
              <a:ext uri="{FF2B5EF4-FFF2-40B4-BE49-F238E27FC236}">
                <a16:creationId xmlns:a16="http://schemas.microsoft.com/office/drawing/2014/main" id="{73165AA3-E5EA-41A5-AB0A-460AD2DF48DC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Validation macro F1</a:t>
            </a:r>
          </a:p>
        </p:txBody>
      </p:sp>
      <p:sp>
        <p:nvSpPr>
          <p:cNvPr id="6" name="text-3">
            <a:extLst>
              <a:ext uri="{FF2B5EF4-FFF2-40B4-BE49-F238E27FC236}">
                <a16:creationId xmlns:a16="http://schemas.microsoft.com/office/drawing/2014/main" id="{C0D7F562-2F95-4CB8-BE5E-CC16E320763E}"/>
              </a:ext>
            </a:extLst>
          </p:cNvPr>
          <p:cNvSpPr>
            <a:spLocks noGrp="1"/>
          </p:cNvSpPr>
          <p:nvPr/>
        </p:nvSpPr>
        <p:spPr>
          <a:xfrm>
            <a:off x="7953375" y="5362575"/>
            <a:ext cx="35242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+0.1475 macro F1 versus LSTM</a:t>
            </a:r>
          </a:p>
        </p:txBody>
      </p:sp>
      <p:sp>
        <p:nvSpPr>
          <p:cNvPr id="7" name="text-4">
            <a:extLst>
              <a:ext uri="{FF2B5EF4-FFF2-40B4-BE49-F238E27FC236}">
                <a16:creationId xmlns:a16="http://schemas.microsoft.com/office/drawing/2014/main" id="{F5A60FCE-2100-41DB-8CE8-3D0CEA124E16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10763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Saved full run. BERT selection used development data before this final comparison.</a:t>
            </a:r>
          </a:p>
        </p:txBody>
      </p:sp>
    </p:spTree>
    <p:extLst>
      <p:ext uri="{BB962C8B-B14F-4D97-AF65-F5344CB8AC3E}">
        <p14:creationId xmlns:p14="http://schemas.microsoft.com/office/powerpoint/2010/main" val="21652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3B9F7278-4C21-48CF-88B5-46A5A6B04E5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326 mistakes remain after BERT fine-tuning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EC3A1545-6EF2-431E-8CF5-D8881C3790C7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13 / 20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43B4BB4-620D-4E58-9338-16EFE9E48887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Actual label / predicted label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CFB1C5-5E83-4425-B8B9-E6FBCF141C45}"/>
              </a:ext>
            </a:extLst>
          </p:cNvPr>
          <p:cNvGraphicFramePr/>
          <p:nvPr/>
        </p:nvGraphicFramePr>
        <p:xfrm>
          <a:off x="685800" y="2524125"/>
          <a:ext cx="5715000" cy="2667000"/>
        </p:xfrm>
        <a:graphic>
          <a:graphicData uri="http://schemas.openxmlformats.org/drawingml/2006/table">
            <a:tbl>
              <a:tblPr firstRow="1"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Bearish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Bullish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Neutral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Bearish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87F8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295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DB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40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Bullish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87F8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398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DB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Neutral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107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90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087F8C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1,369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DB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-3">
            <a:extLst>
              <a:ext uri="{FF2B5EF4-FFF2-40B4-BE49-F238E27FC236}">
                <a16:creationId xmlns:a16="http://schemas.microsoft.com/office/drawing/2014/main" id="{EA5E793A-9CF7-4A45-8C27-965FEEF8E7BA}"/>
              </a:ext>
            </a:extLst>
          </p:cNvPr>
          <p:cNvSpPr>
            <a:spLocks noGrp="1"/>
          </p:cNvSpPr>
          <p:nvPr/>
        </p:nvSpPr>
        <p:spPr>
          <a:xfrm>
            <a:off x="7000875" y="1981200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BERT by class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BB1DED4-3A4B-4255-8CBB-6985621490DF}"/>
              </a:ext>
            </a:extLst>
          </p:cNvPr>
          <p:cNvGraphicFramePr/>
          <p:nvPr/>
        </p:nvGraphicFramePr>
        <p:xfrm>
          <a:off x="7000875" y="2524125"/>
          <a:ext cx="4476750" cy="2667000"/>
        </p:xfrm>
        <a:graphic>
          <a:graphicData uri="http://schemas.openxmlformats.org/drawingml/2006/table">
            <a:tbl>
              <a:tblPr firstRow="1"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Class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F1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Bearish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85.0%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0.7702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Bullish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83.8%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0.8164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Neutral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87.4%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0.9021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-4">
            <a:extLst>
              <a:ext uri="{FF2B5EF4-FFF2-40B4-BE49-F238E27FC236}">
                <a16:creationId xmlns:a16="http://schemas.microsoft.com/office/drawing/2014/main" id="{9168ACBA-C392-4253-A2EE-51A974EC2DAB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6203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Bearish precision: 70.41%</a:t>
            </a:r>
          </a:p>
          <a:p>
            <a: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Useful warnings can still be false alarms.</a:t>
            </a:r>
          </a:p>
        </p:txBody>
      </p:sp>
    </p:spTree>
    <p:extLst>
      <p:ext uri="{BB962C8B-B14F-4D97-AF65-F5344CB8AC3E}">
        <p14:creationId xmlns:p14="http://schemas.microsoft.com/office/powerpoint/2010/main" val="855686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0FE65E71-74F0-450D-BC66-2E81AECF00FD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A recorded prediction resolves the mixed example as Bullish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A807F1A6-3822-4854-B902-387AF5370AEE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14 / 20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9421ACF2-D79B-48DB-8A91-CF1A019306E3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“The company reported stronger earnings but warned</a:t>
            </a:r>
          </a:p>
          <a:p>
            <a:pPr algn="l">
              <a:def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about weaker demand next quarter.”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B3ED23FB-6ECE-4A44-9739-11B1F0254F5F}"/>
              </a:ext>
            </a:extLst>
          </p:cNvPr>
          <p:cNvGraphicFramePr/>
          <p:nvPr/>
        </p:nvGraphicFramePr>
        <p:xfrm>
          <a:off x="695325" y="3171825"/>
          <a:ext cx="7334250" cy="2733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-3">
            <a:extLst>
              <a:ext uri="{FF2B5EF4-FFF2-40B4-BE49-F238E27FC236}">
                <a16:creationId xmlns:a16="http://schemas.microsoft.com/office/drawing/2014/main" id="{5FFD44F8-EAF8-4EC2-8CBB-EF2394B418B7}"/>
              </a:ext>
            </a:extLst>
          </p:cNvPr>
          <p:cNvSpPr>
            <a:spLocks noGrp="1"/>
          </p:cNvSpPr>
          <p:nvPr/>
        </p:nvSpPr>
        <p:spPr>
          <a:xfrm>
            <a:off x="8715375" y="3667125"/>
            <a:ext cx="2762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rPr>
              <a:t>BULLISH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32D34983-8BCE-43AE-B1A4-B4CEB2BFE2CD}"/>
              </a:ext>
            </a:extLst>
          </p:cNvPr>
          <p:cNvSpPr>
            <a:spLocks noGrp="1"/>
          </p:cNvSpPr>
          <p:nvPr/>
        </p:nvSpPr>
        <p:spPr>
          <a:xfrm>
            <a:off x="8667750" y="4333875"/>
            <a:ext cx="2762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6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46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46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46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46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46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46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46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46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46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46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62.35%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08EB6E46-3795-4093-90E6-3D4345D9D9C7}"/>
              </a:ext>
            </a:extLst>
          </p:cNvPr>
          <p:cNvSpPr>
            <a:spLocks noGrp="1"/>
          </p:cNvSpPr>
          <p:nvPr/>
        </p:nvSpPr>
        <p:spPr>
          <a:xfrm>
            <a:off x="8686800" y="5219700"/>
            <a:ext cx="28098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Largest probability</a:t>
            </a:r>
          </a:p>
          <a:p>
            <a: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chooses the label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27EC7520-7EE3-4D7F-9539-32A7459FD1E2}"/>
              </a:ext>
            </a:extLst>
          </p:cNvPr>
          <p:cNvSpPr>
            <a:spLocks noGrp="1"/>
          </p:cNvSpPr>
          <p:nvPr/>
        </p:nvSpPr>
        <p:spPr>
          <a:xfrm>
            <a:off x="685800" y="6162675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Recorded notebook inference output. Probabilities are uncalibrated.</a:t>
            </a:r>
          </a:p>
        </p:txBody>
      </p:sp>
    </p:spTree>
    <p:extLst>
      <p:ext uri="{BB962C8B-B14F-4D97-AF65-F5344CB8AC3E}">
        <p14:creationId xmlns:p14="http://schemas.microsoft.com/office/powerpoint/2010/main" val="803530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0">
            <a:extLst>
              <a:ext uri="{FF2B5EF4-FFF2-40B4-BE49-F238E27FC236}">
                <a16:creationId xmlns:a16="http://schemas.microsoft.com/office/drawing/2014/main" id="{DA6CA33F-1E55-4875-A47E-4FFE24FF2E0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High model probability can accompany a wrong label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F9357D3-C3A0-4FA1-84C9-29FAC983F5B4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15 / 20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B7C3C8FE-011B-4395-A2C1-AB37DE99CC6D}"/>
              </a:ext>
            </a:extLst>
          </p:cNvPr>
          <p:cNvSpPr>
            <a:spLocks noGrp="1"/>
          </p:cNvSpPr>
          <p:nvPr/>
        </p:nvSpPr>
        <p:spPr>
          <a:xfrm>
            <a:off x="685800" y="2066925"/>
            <a:ext cx="106680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0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“US Proved Oil &amp; Gas Reserves</a:t>
            </a:r>
          </a:p>
          <a:p>
            <a:pPr algn="l">
              <a:defRPr sz="30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Hit New Record High”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4A9EB45-D7B4-43BD-B332-C1BB312CD32E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10820400" cy="0"/>
          </a:xfrm>
          <a:prstGeom prst="line">
            <a:avLst/>
          </a:prstGeom>
          <a:noFill/>
          <a:ln w="14288">
            <a:solidFill>
              <a:srgbClr val="D5DDE5"/>
            </a:solidFill>
          </a:ln>
        </p:spPr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D938A88E-D304-4E45-8F9A-9B2FF0F4B045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DATASET LABEL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7BDA7CB5-46DE-46B0-8E84-5746626340D5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4572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60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60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60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60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60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60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60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60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60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60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B34848"/>
                </a:solidFill>
                <a:latin typeface="Helvetica Neue"/>
                <a:ea typeface="Helvetica Neue"/>
                <a:cs typeface="Helvetica Neue"/>
              </a:rPr>
              <a:t>Bearish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CB13E2C1-F3AE-4078-A604-267E4958A74D}"/>
              </a:ext>
            </a:extLst>
          </p:cNvPr>
          <p:cNvSpPr>
            <a:spLocks noGrp="1"/>
          </p:cNvSpPr>
          <p:nvPr/>
        </p:nvSpPr>
        <p:spPr>
          <a:xfrm>
            <a:off x="6858000" y="4095750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MODEL PREDICTION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9B890859-C058-4F5C-A143-A3D97987C215}"/>
              </a:ext>
            </a:extLst>
          </p:cNvPr>
          <p:cNvSpPr>
            <a:spLocks noGrp="1"/>
          </p:cNvSpPr>
          <p:nvPr/>
        </p:nvSpPr>
        <p:spPr>
          <a:xfrm>
            <a:off x="6858000" y="4667250"/>
            <a:ext cx="4476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60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60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60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60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60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60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60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60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60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60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58168"/>
                </a:solidFill>
                <a:latin typeface="Helvetica Neue"/>
                <a:ea typeface="Helvetica Neue"/>
                <a:cs typeface="Helvetica Neue"/>
              </a:rPr>
              <a:t>Bullish, 98.97%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0F23794F-8449-4613-BB37-54B8F5B7306E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Possible context or annotation ambiguity needs review. A high probability is not a guarantee.</a:t>
            </a:r>
          </a:p>
        </p:txBody>
      </p:sp>
    </p:spTree>
    <p:extLst>
      <p:ext uri="{BB962C8B-B14F-4D97-AF65-F5344CB8AC3E}">
        <p14:creationId xmlns:p14="http://schemas.microsoft.com/office/powerpoint/2010/main" val="777828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-0">
            <a:extLst>
              <a:ext uri="{FF2B5EF4-FFF2-40B4-BE49-F238E27FC236}">
                <a16:creationId xmlns:a16="http://schemas.microsoft.com/office/drawing/2014/main" id="{23EBD6E3-406A-4A38-8CC0-AE68F0AF3FEC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Verification supports inference and exposes a packaging gap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11D7262-5975-48B6-B73F-5AE55F300130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16 / 20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EC9067-CB0D-43EB-A23E-5A282DBB42E9}"/>
              </a:ext>
            </a:extLst>
          </p:cNvPr>
          <p:cNvGraphicFramePr/>
          <p:nvPr/>
        </p:nvGraphicFramePr>
        <p:xfrm>
          <a:off x="685800" y="1943100"/>
          <a:ext cx="10820400" cy="3476625"/>
        </p:xfrm>
        <a:graphic>
          <a:graphicData uri="http://schemas.openxmlformats.org/drawingml/2006/table">
            <a:tbl>
              <a:tblPr firstRow="1"/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evidence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 consistency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labels / probabilities match CSV scores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 now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Reload + empty input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Notebook prints passed checks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Recorded pass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Streamlit dashboard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Input, plots, error handling in source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Implemented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export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Streamlit package metadata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Blocked in record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-2">
            <a:extLst>
              <a:ext uri="{FF2B5EF4-FFF2-40B4-BE49-F238E27FC236}">
                <a16:creationId xmlns:a16="http://schemas.microsoft.com/office/drawing/2014/main" id="{288DD964-FFBC-4CD9-9B74-88F2429BBDD9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956414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956414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956414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956414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956414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956414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956414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956414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956414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956414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1">
                <a:solidFill>
                  <a:srgbClr val="956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956414"/>
                </a:solidFill>
                <a:latin typeface="Helvetica Neue"/>
                <a:ea typeface="Helvetica Neue"/>
                <a:cs typeface="Helvetica Neue"/>
              </a:rPr>
              <a:t>No final comparison PDF or environment export exists in the supplied run folder.</a:t>
            </a:r>
          </a:p>
        </p:txBody>
      </p:sp>
    </p:spTree>
    <p:extLst>
      <p:ext uri="{BB962C8B-B14F-4D97-AF65-F5344CB8AC3E}">
        <p14:creationId xmlns:p14="http://schemas.microsoft.com/office/powerpoint/2010/main" val="133654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A75B4157-C8DB-4152-8D97-694772D69862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BERT’s higher score comes with a larger compute cost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D4922E4-F7B0-499C-BF00-F6480A02E0E3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17 / 20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EB31A73F-435F-48E2-9499-F336271E0407}"/>
              </a:ext>
            </a:extLst>
          </p:cNvPr>
          <p:cNvGraphicFramePr/>
          <p:nvPr/>
        </p:nvGraphicFramePr>
        <p:xfrm>
          <a:off x="685800" y="2190750"/>
          <a:ext cx="70485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-2">
            <a:extLst>
              <a:ext uri="{FF2B5EF4-FFF2-40B4-BE49-F238E27FC236}">
                <a16:creationId xmlns:a16="http://schemas.microsoft.com/office/drawing/2014/main" id="{3F12CF59-575F-4CC9-8568-674CDD850D55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Training minutes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717B30C6-4C5F-4340-BC71-5DC60D591117}"/>
              </a:ext>
            </a:extLst>
          </p:cNvPr>
          <p:cNvSpPr>
            <a:spLocks noGrp="1"/>
          </p:cNvSpPr>
          <p:nvPr/>
        </p:nvSpPr>
        <p:spPr>
          <a:xfrm>
            <a:off x="8239125" y="2600325"/>
            <a:ext cx="3333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4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4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4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4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4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4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4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4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4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4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10.95 ms / tweet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472DCD9E-0374-4269-BEA7-1FD9DF6DE1E2}"/>
              </a:ext>
            </a:extLst>
          </p:cNvPr>
          <p:cNvSpPr>
            <a:spLocks noGrp="1"/>
          </p:cNvSpPr>
          <p:nvPr/>
        </p:nvSpPr>
        <p:spPr>
          <a:xfrm>
            <a:off x="8239125" y="3686175"/>
            <a:ext cx="3333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Recorded batched BERT</a:t>
            </a:r>
          </a:p>
          <a:p>
            <a:pPr algn="l">
              <a:def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evaluation average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BC145AF5-DC73-4303-9E5B-1AD30EE47A78}"/>
              </a:ext>
            </a:extLst>
          </p:cNvPr>
          <p:cNvSpPr>
            <a:spLocks noGrp="1"/>
          </p:cNvSpPr>
          <p:nvPr/>
        </p:nvSpPr>
        <p:spPr>
          <a:xfrm>
            <a:off x="8239125" y="5010150"/>
            <a:ext cx="33337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App latency and concurrent</a:t>
            </a:r>
          </a:p>
          <a:p>
            <a:pPr algn="l">
              <a:def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users remain untested.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7AAD84DE-661E-4F6E-A7E0-425C5C33FEC0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0820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One recorded Apple MPS run. Architecture and training budgets differ.</a:t>
            </a:r>
          </a:p>
        </p:txBody>
      </p:sp>
    </p:spTree>
    <p:extLst>
      <p:ext uri="{BB962C8B-B14F-4D97-AF65-F5344CB8AC3E}">
        <p14:creationId xmlns:p14="http://schemas.microsoft.com/office/powerpoint/2010/main" val="1515868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916CFCF0-9D97-4932-845C-F210A5701368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The current evidence has clear boundaries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18F99ABE-660D-4B4F-BC70-70F86C1D05CF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18 / 20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BB0A4E7-8B38-42D5-A0B6-D6AE3056DD1E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108204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Domain: English financial tweets, with paragraphs accepted but not separately evaluated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574A2C25-559D-4546-8157-EDD65D099975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08204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Generalization: one fixed validation split, with shared-event overlap still possible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C31173D4-D028-463F-81E7-52C5599C8DA0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108204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Reliability: confident errors and truncation can change how a user interprets a result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CE42CD98-0CA0-464B-8A61-E1C4F368CED4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108204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Operations: final packaging and real application load checks remain incomplete</a:t>
            </a:r>
          </a:p>
        </p:txBody>
      </p:sp>
    </p:spTree>
    <p:extLst>
      <p:ext uri="{BB962C8B-B14F-4D97-AF65-F5344CB8AC3E}">
        <p14:creationId xmlns:p14="http://schemas.microsoft.com/office/powerpoint/2010/main" val="1754928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-0">
            <a:extLst>
              <a:ext uri="{FF2B5EF4-FFF2-40B4-BE49-F238E27FC236}">
                <a16:creationId xmlns:a16="http://schemas.microsoft.com/office/drawing/2014/main" id="{0677567C-9A0B-4EC3-AB7A-0A503E516FB0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243A"/>
                </a:solidFill>
                <a:latin typeface="Helvetica Neue"/>
                <a:ea typeface="Helvetica Neue"/>
                <a:cs typeface="Helvetica Neue"/>
              </a:rPr>
              <a:t>Three proposed improvements make the next version more dependable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6742373-85AC-4E7B-B749-4B95177D99C0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A"/>
                </a:solidFill>
                <a:latin typeface="Helvetica Neue"/>
                <a:ea typeface="Helvetica Neue"/>
                <a:cs typeface="Helvetica Neue"/>
              </a:rPr>
              <a:t>19 / 20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E2B829-2365-46DB-98B3-E73CCE00B064}"/>
              </a:ext>
            </a:extLst>
          </p:cNvPr>
          <p:cNvGraphicFramePr/>
          <p:nvPr/>
        </p:nvGraphicFramePr>
        <p:xfrm>
          <a:off x="685800" y="1933575"/>
          <a:ext cx="10820400" cy="3667125"/>
        </p:xfrm>
        <a:graphic>
          <a:graphicData uri="http://schemas.openxmlformats.org/drawingml/2006/table">
            <a:tbl>
              <a:tblPr firstRow="1"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6781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Priority / effort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change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How success would be checked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>
                      <a:solidFill>
                        <a:srgbClr val="D5DDE5"/>
                      </a:solidFill>
                      <a:prstDash val="soli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1124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6781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P1 / Low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Pin dependencies, finish exports, add an app smoke test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Clean setup launches and exports without manual fixes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6781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P2 / Medium–high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Collect dated labels and hold out unseen events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Macro F1 and uncertainty on a new event / date split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6781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P2 / Medium</a:t>
                      </a:r>
                    </a:p>
                  </a:txBody>
                  <a:tcPr>
                    <a:lnL w="7620">
                      <a:solidFill>
                        <a:srgbClr val="D5DDE5"/>
                      </a:solidFill>
                      <a:prstDash val="soli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Calibrate probabilities and flag uncertain cases for review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124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 error plus coverage versus prediction error</a:t>
                      </a:r>
                    </a:p>
                  </a:txBody>
                  <a:tcPr>
                    <a:lnL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D5DDE5"/>
                      </a:solidFill>
                      <a:prstDash val="solid"/>
                    </a:lnR>
                    <a:lnT w="762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D5DD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-2">
            <a:extLst>
              <a:ext uri="{FF2B5EF4-FFF2-40B4-BE49-F238E27FC236}">
                <a16:creationId xmlns:a16="http://schemas.microsoft.com/office/drawing/2014/main" id="{E6DE07D8-6F9C-4393-8D5D-EF10FBFB8CA6}"/>
              </a:ext>
            </a:extLst>
          </p:cNvPr>
          <p:cNvSpPr>
            <a:spLocks noGrp="1"/>
          </p:cNvSpPr>
          <p:nvPr/>
        </p:nvSpPr>
        <p:spPr>
          <a:xfrm>
            <a:off x="685800" y="5972175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Each proposal links a current gap to a measurable check.</a:t>
            </a:r>
          </a:p>
        </p:txBody>
      </p:sp>
    </p:spTree>
    <p:extLst>
      <p:ext uri="{BB962C8B-B14F-4D97-AF65-F5344CB8AC3E}">
        <p14:creationId xmlns:p14="http://schemas.microsoft.com/office/powerpoint/2010/main" val="1923135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-0">
            <a:extLst>
              <a:ext uri="{FF2B5EF4-FFF2-40B4-BE49-F238E27FC236}">
                <a16:creationId xmlns:a16="http://schemas.microsoft.com/office/drawing/2014/main" id="{586A72EC-0C95-46C8-8D00-6ED9C2C147D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useful sentiment model with evidence and visible limits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DB20676-2C0C-4F3F-9A5C-CA4F8C5EB26B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defPPr>
            <a:lvl1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1pPr>
            <a:lvl2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2pPr>
            <a:lvl3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3pPr>
            <a:lvl4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4pPr>
            <a:lvl5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5pPr>
            <a:lvl6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6pPr>
            <a:lvl7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7pPr>
            <a:lvl8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8pPr>
            <a:lvl9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r">
              <a:def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8CBDC"/>
                </a:solidFill>
                <a:latin typeface="Helvetica Neue"/>
                <a:ea typeface="Helvetica Neue"/>
                <a:cs typeface="Helvetica Neue"/>
              </a:rPr>
              <a:t>20 / 20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EB21EBE8-175F-4626-ABFF-604F096E1222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57150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86.35%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4D423A6B-EC1F-46A9-94A1-96B5D5A8B66F}"/>
              </a:ext>
            </a:extLst>
          </p:cNvPr>
          <p:cNvSpPr>
            <a:spLocks noGrp="1"/>
          </p:cNvSpPr>
          <p:nvPr/>
        </p:nvSpPr>
        <p:spPr>
          <a:xfrm>
            <a:off x="742950" y="35147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75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75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75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75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75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75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75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75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75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475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91CFD0"/>
                </a:solidFill>
                <a:latin typeface="Helvetica Neue"/>
                <a:ea typeface="Helvetica Neue"/>
                <a:cs typeface="Helvetica Neue"/>
              </a:rPr>
              <a:t>official-validation accuracy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459CECC7-0CF3-43D3-8AD1-AB7A3EC5D56D}"/>
              </a:ext>
            </a:extLst>
          </p:cNvPr>
          <p:cNvSpPr>
            <a:spLocks noGrp="1"/>
          </p:cNvSpPr>
          <p:nvPr/>
        </p:nvSpPr>
        <p:spPr>
          <a:xfrm>
            <a:off x="742950" y="4333875"/>
            <a:ext cx="8572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550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rPr>
              <a:t>0.8296 macro F1</a:t>
            </a:r>
          </a:p>
          <a:p>
            <a:pPr algn="l">
              <a:defRPr sz="2550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rPr>
              <a:t>326 errors remain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C22F1CDD-4E6E-4E96-8AE2-2D975C70B8F0}"/>
              </a:ext>
            </a:extLst>
          </p:cNvPr>
          <p:cNvSpPr>
            <a:spLocks noGrp="1"/>
          </p:cNvSpPr>
          <p:nvPr/>
        </p:nvSpPr>
        <p:spPr>
          <a:xfrm>
            <a:off x="742950" y="5486400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DCE5EE"/>
                </a:solidFill>
                <a:latin typeface="Helvetica Neue"/>
                <a:ea typeface="Helvetica Neue"/>
                <a:cs typeface="Helvetica Neue"/>
              </a:rPr>
              <a:t>Next milestone: a clean, repeatable app launch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D6413A0-60D6-46B4-AC66-FC82332819B6}"/>
              </a:ext>
            </a:extLst>
          </p:cNvPr>
          <p:cNvSpPr>
            <a:spLocks noGrp="1"/>
          </p:cNvSpPr>
          <p:nvPr/>
        </p:nvSpPr>
        <p:spPr>
          <a:xfrm>
            <a:off x="742950" y="6105525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Thank you. Questions?</a:t>
            </a:r>
          </a:p>
        </p:txBody>
      </p:sp>
    </p:spTree>
    <p:extLst>
      <p:ext uri="{BB962C8B-B14F-4D97-AF65-F5344CB8AC3E}">
        <p14:creationId xmlns:p14="http://schemas.microsoft.com/office/powerpoint/2010/main" val="1055552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2620</Words>
  <Application>Microsoft Macintosh PowerPoint</Application>
  <DocSecurity>0</DocSecurity>
  <PresentationFormat>Widescreen</PresentationFormat>
  <Paragraphs>398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Aptos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Sundharamurali Ramachandran</cp:lastModifiedBy>
  <cp:revision>1</cp:revision>
  <dcterms:created xsi:type="dcterms:W3CDTF">2026-10-26T18:37:28Z</dcterms:created>
  <dcterms:modified xsi:type="dcterms:W3CDTF">2026-10-26T19:12:40Z</dcterms:modified>
</cp:coreProperties>
</file>